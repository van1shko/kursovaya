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4" r:id="rId6"/>
    <p:sldId id="263"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van Yachmenev" initials="IY" lastIdx="2" clrIdx="0">
    <p:extLst>
      <p:ext uri="{19B8F6BF-5375-455C-9EA6-DF929625EA0E}">
        <p15:presenceInfo xmlns:p15="http://schemas.microsoft.com/office/powerpoint/2012/main" userId="13b93056fac708e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1" d="100"/>
          <a:sy n="111" d="100"/>
        </p:scale>
        <p:origin x="55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ru-RU"/>
              <a:t>Образец заголовка</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55B974BF-D738-4474-BE35-38C1847A25C4}" type="datetimeFigureOut">
              <a:rPr lang="ru-RU" smtClean="0"/>
              <a:t>26.06.2025</a:t>
            </a:fld>
            <a:endParaRPr lang="ru-RU"/>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ru-RU"/>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F3CC98EA-7C18-406F-9C70-5D1AE16DD451}" type="slidenum">
              <a:rPr lang="ru-RU" smtClean="0"/>
              <a:t>‹#›</a:t>
            </a:fld>
            <a:endParaRPr lang="ru-RU"/>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602111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5B974BF-D738-4474-BE35-38C1847A25C4}" type="datetimeFigureOut">
              <a:rPr lang="ru-RU" smtClean="0"/>
              <a:t>26.06.2025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3554801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ru-RU"/>
              <a:t>Образец заголовка</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5B974BF-D738-4474-BE35-38C1847A25C4}" type="datetimeFigureOut">
              <a:rPr lang="ru-RU" smtClean="0"/>
              <a:t>26.06.2025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1348603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ru-RU"/>
              <a:t>Образец заголовка</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5B974BF-D738-4474-BE35-38C1847A25C4}" type="datetimeFigureOut">
              <a:rPr lang="ru-RU" smtClean="0"/>
              <a:t>26.06.2025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131656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ru-RU"/>
              <a:t>Образец заголовка</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Content Placeholder 3"/>
          <p:cNvSpPr>
            <a:spLocks noGrp="1"/>
          </p:cNvSpPr>
          <p:nvPr>
            <p:ph sz="quarter" idx="13"/>
          </p:nvPr>
        </p:nvSpPr>
        <p:spPr>
          <a:xfrm>
            <a:off x="685802" y="2861733"/>
            <a:ext cx="5088712" cy="2512852"/>
          </a:xfrm>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3" name="Content Placeholder 5"/>
          <p:cNvSpPr>
            <a:spLocks noGrp="1"/>
          </p:cNvSpPr>
          <p:nvPr>
            <p:ph sz="quarter" idx="14"/>
          </p:nvPr>
        </p:nvSpPr>
        <p:spPr>
          <a:xfrm>
            <a:off x="5993969" y="2861733"/>
            <a:ext cx="5088713" cy="2512852"/>
          </a:xfrm>
        </p:spPr>
        <p:txBody>
          <a:bodyPr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5B974BF-D738-4474-BE35-38C1847A25C4}" type="datetimeFigureOut">
              <a:rPr lang="ru-RU" smtClean="0"/>
              <a:t>26.06.2025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369984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5B974BF-D738-4474-BE35-38C1847A25C4}" type="datetimeFigureOut">
              <a:rPr lang="ru-RU" smtClean="0"/>
              <a:t>26.06.2025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3201947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B974BF-D738-4474-BE35-38C1847A25C4}" type="datetimeFigureOut">
              <a:rPr lang="ru-RU" smtClean="0"/>
              <a:t>26.06.2025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1633896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ru-RU"/>
              <a:t>Образец заголовка</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5B974BF-D738-4474-BE35-38C1847A25C4}" type="datetimeFigureOut">
              <a:rPr lang="ru-RU" smtClean="0"/>
              <a:t>26.06.2025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1533301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5B974BF-D738-4474-BE35-38C1847A25C4}" type="datetimeFigureOut">
              <a:rPr lang="ru-RU" smtClean="0"/>
              <a:t>26.06.2025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1232433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5B974BF-D738-4474-BE35-38C1847A25C4}" type="datetimeFigureOut">
              <a:rPr lang="ru-RU" smtClean="0"/>
              <a:t>26.06.2025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4095896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ru-RU"/>
              <a:t>Образец заголовка</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5B974BF-D738-4474-BE35-38C1847A25C4}" type="datetimeFigureOut">
              <a:rPr lang="ru-RU" smtClean="0"/>
              <a:t>26.06.2025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3170643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ru-RU"/>
              <a:t>Образец заголовка</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5B974BF-D738-4474-BE35-38C1847A25C4}" type="datetimeFigureOut">
              <a:rPr lang="ru-RU" smtClean="0"/>
              <a:t>26.06.2025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3CC98EA-7C18-406F-9C70-5D1AE16DD451}" type="slidenum">
              <a:rPr lang="ru-RU" smtClean="0"/>
              <a:t>‹#›</a:t>
            </a:fld>
            <a:endParaRPr lang="ru-RU"/>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69845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ru-RU"/>
              <a:t>Образец заголовка</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5B974BF-D738-4474-BE35-38C1847A25C4}" type="datetimeFigureOut">
              <a:rPr lang="ru-RU" smtClean="0"/>
              <a:t>26.06.2025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1647357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ru-RU"/>
              <a:t>Образец заголовка</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55B974BF-D738-4474-BE35-38C1847A25C4}" type="datetimeFigureOut">
              <a:rPr lang="ru-RU" smtClean="0"/>
              <a:t>26.06.2025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1742024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ru-RU"/>
              <a:t>Образец заголовка</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55B974BF-D738-4474-BE35-38C1847A25C4}" type="datetimeFigureOut">
              <a:rPr lang="ru-RU" smtClean="0"/>
              <a:t>26.06.2025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315063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ru-RU"/>
              <a:t>Образец заголовка</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5B974BF-D738-4474-BE35-38C1847A25C4}" type="datetimeFigureOut">
              <a:rPr lang="ru-RU" smtClean="0"/>
              <a:t>26.06.2025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12658169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ru-RU"/>
              <a:t>Образец заголовка</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5B974BF-D738-4474-BE35-38C1847A25C4}" type="datetimeFigureOut">
              <a:rPr lang="ru-RU" smtClean="0"/>
              <a:t>26.06.2025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F3CC98EA-7C18-406F-9C70-5D1AE16DD451}" type="slidenum">
              <a:rPr lang="ru-RU" smtClean="0"/>
              <a:t>‹#›</a:t>
            </a:fld>
            <a:endParaRPr lang="ru-RU"/>
          </a:p>
        </p:txBody>
      </p:sp>
    </p:spTree>
    <p:extLst>
      <p:ext uri="{BB962C8B-B14F-4D97-AF65-F5344CB8AC3E}">
        <p14:creationId xmlns:p14="http://schemas.microsoft.com/office/powerpoint/2010/main" val="3363868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55B974BF-D738-4474-BE35-38C1847A25C4}" type="datetimeFigureOut">
              <a:rPr lang="ru-RU" smtClean="0"/>
              <a:t>26.06.2025</a:t>
            </a:fld>
            <a:endParaRPr lang="ru-RU"/>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ru-RU"/>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F3CC98EA-7C18-406F-9C70-5D1AE16DD451}" type="slidenum">
              <a:rPr lang="ru-RU" smtClean="0"/>
              <a:t>‹#›</a:t>
            </a:fld>
            <a:endParaRPr lang="ru-RU"/>
          </a:p>
        </p:txBody>
      </p:sp>
    </p:spTree>
    <p:extLst>
      <p:ext uri="{BB962C8B-B14F-4D97-AF65-F5344CB8AC3E}">
        <p14:creationId xmlns:p14="http://schemas.microsoft.com/office/powerpoint/2010/main" val="35890252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ru.wikipedia.org/wiki/%D0%A2%D0%B5%D0%BB%D0%B5%D1%82%D0%B0%D0%B9%D0%B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ru.wikipedia.org/wiki/Construct_Classic#%D0%9F%D0%BE%D0%B2%D0%B5%D0%B4%D0%B5%D0%BD%D0%B8%D1%8F" TargetMode="External"/><Relationship Id="rId2" Type="http://schemas.openxmlformats.org/officeDocument/2006/relationships/hyperlink" Target="https://ru.wikipedia.org/wiki/C%2B%2B"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ru.wikipedia.org/wiki/%D0%9E%D0%BF%D0%B5%D1%80%D0%B0%D1%86%D0%B8%D0%BE%D0%BD%D0%BD%D0%B0%D1%8F_%D1%81%D0%B8%D1%81%D1%82%D0%B5%D0%BC%D0%B0"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ru.wikipedia.org/wiki/C%2B%2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1E4BE4-2507-44CC-AADE-BD11F26C4A7E}"/>
              </a:ext>
            </a:extLst>
          </p:cNvPr>
          <p:cNvSpPr>
            <a:spLocks noGrp="1"/>
          </p:cNvSpPr>
          <p:nvPr>
            <p:ph type="ctrTitle"/>
          </p:nvPr>
        </p:nvSpPr>
        <p:spPr/>
        <p:txBody>
          <a:bodyPr/>
          <a:lstStyle/>
          <a:p>
            <a:r>
              <a:rPr lang="ru-RU" dirty="0"/>
              <a:t>Компьютерная игра</a:t>
            </a:r>
          </a:p>
        </p:txBody>
      </p:sp>
      <p:sp>
        <p:nvSpPr>
          <p:cNvPr id="3" name="Подзаголовок 2">
            <a:extLst>
              <a:ext uri="{FF2B5EF4-FFF2-40B4-BE49-F238E27FC236}">
                <a16:creationId xmlns:a16="http://schemas.microsoft.com/office/drawing/2014/main" id="{A2F44AF3-EB78-40E8-8DE7-E185130B2B76}"/>
              </a:ext>
            </a:extLst>
          </p:cNvPr>
          <p:cNvSpPr>
            <a:spLocks noGrp="1"/>
          </p:cNvSpPr>
          <p:nvPr>
            <p:ph type="subTitle" idx="1"/>
          </p:nvPr>
        </p:nvSpPr>
        <p:spPr>
          <a:xfrm rot="21420000">
            <a:off x="1004657" y="3502737"/>
            <a:ext cx="9827983" cy="1377489"/>
          </a:xfrm>
        </p:spPr>
        <p:txBody>
          <a:bodyPr/>
          <a:lstStyle/>
          <a:p>
            <a:r>
              <a:rPr lang="ru-RU" dirty="0"/>
              <a:t>Дисциплина</a:t>
            </a:r>
            <a:r>
              <a:rPr lang="en-US" dirty="0"/>
              <a:t>: </a:t>
            </a:r>
            <a:r>
              <a:rPr lang="ru-RU" dirty="0"/>
              <a:t>Программные решения для бизнеса</a:t>
            </a:r>
            <a:endParaRPr lang="en-US" dirty="0"/>
          </a:p>
          <a:p>
            <a:r>
              <a:rPr lang="ru-RU" dirty="0"/>
              <a:t>Выполнил работу</a:t>
            </a:r>
            <a:r>
              <a:rPr lang="en-US" dirty="0"/>
              <a:t>: </a:t>
            </a:r>
            <a:r>
              <a:rPr lang="ru-RU" dirty="0"/>
              <a:t>Ячменёв Иван 22ИСП1п</a:t>
            </a:r>
          </a:p>
        </p:txBody>
      </p:sp>
    </p:spTree>
    <p:extLst>
      <p:ext uri="{BB962C8B-B14F-4D97-AF65-F5344CB8AC3E}">
        <p14:creationId xmlns:p14="http://schemas.microsoft.com/office/powerpoint/2010/main" val="1121576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A94840-F44C-40D0-91AE-EE30BB8F8C7F}"/>
              </a:ext>
            </a:extLst>
          </p:cNvPr>
          <p:cNvSpPr>
            <a:spLocks noGrp="1"/>
          </p:cNvSpPr>
          <p:nvPr>
            <p:ph type="title"/>
          </p:nvPr>
        </p:nvSpPr>
        <p:spPr>
          <a:xfrm>
            <a:off x="823419" y="142103"/>
            <a:ext cx="10396882" cy="1151965"/>
          </a:xfrm>
        </p:spPr>
        <p:txBody>
          <a:bodyPr/>
          <a:lstStyle/>
          <a:p>
            <a:r>
              <a:rPr lang="ru-RU" dirty="0"/>
              <a:t>Введение</a:t>
            </a:r>
          </a:p>
        </p:txBody>
      </p:sp>
      <p:sp>
        <p:nvSpPr>
          <p:cNvPr id="3" name="Объект 2">
            <a:extLst>
              <a:ext uri="{FF2B5EF4-FFF2-40B4-BE49-F238E27FC236}">
                <a16:creationId xmlns:a16="http://schemas.microsoft.com/office/drawing/2014/main" id="{0FFCC59C-EA17-42D1-BA2E-987DD48F2087}"/>
              </a:ext>
            </a:extLst>
          </p:cNvPr>
          <p:cNvSpPr>
            <a:spLocks noGrp="1"/>
          </p:cNvSpPr>
          <p:nvPr>
            <p:ph sz="quarter" idx="13"/>
          </p:nvPr>
        </p:nvSpPr>
        <p:spPr>
          <a:xfrm>
            <a:off x="354228" y="1294068"/>
            <a:ext cx="5667632" cy="4080518"/>
          </a:xfrm>
        </p:spPr>
        <p:txBody>
          <a:bodyPr>
            <a:normAutofit fontScale="55000" lnSpcReduction="20000"/>
          </a:bodyPr>
          <a:lstStyle/>
          <a:p>
            <a:pPr indent="450215" algn="just">
              <a:lnSpc>
                <a:spcPct val="170000"/>
              </a:lnSpc>
            </a:pPr>
            <a:r>
              <a:rPr lang="ru-RU" sz="1800" b="1" dirty="0">
                <a:solidFill>
                  <a:srgbClr val="202122"/>
                </a:solidFill>
                <a:effectLst/>
                <a:latin typeface="Times New Roman" panose="02020603050405020304" pitchFamily="18" charset="0"/>
                <a:ea typeface="Times New Roman" panose="02020603050405020304" pitchFamily="18" charset="0"/>
              </a:rPr>
              <a:t>Компьютерная игра</a:t>
            </a:r>
            <a:r>
              <a:rPr lang="ru-RU" sz="1800" dirty="0">
                <a:solidFill>
                  <a:srgbClr val="202122"/>
                </a:solidFill>
                <a:effectLst/>
                <a:latin typeface="Times New Roman" panose="02020603050405020304" pitchFamily="18" charset="0"/>
                <a:ea typeface="Times New Roman" panose="02020603050405020304" pitchFamily="18" charset="0"/>
              </a:rPr>
              <a:t> —  Компьютерная программа</a:t>
            </a:r>
            <a:r>
              <a:rPr lang="ru-RU" sz="1800" dirty="0">
                <a:effectLst/>
                <a:latin typeface="Times New Roman" panose="02020603050405020304" pitchFamily="18" charset="0"/>
                <a:ea typeface="Times New Roman" panose="02020603050405020304" pitchFamily="18" charset="0"/>
              </a:rPr>
              <a:t>, служащая для организации </a:t>
            </a:r>
            <a:r>
              <a:rPr lang="ru-RU" sz="1800" dirty="0">
                <a:latin typeface="Times New Roman" panose="02020603050405020304" pitchFamily="18" charset="0"/>
                <a:ea typeface="NSimSun" panose="02010609030101010101" pitchFamily="49" charset="-122"/>
              </a:rPr>
              <a:t>игрового</a:t>
            </a:r>
            <a:r>
              <a:rPr lang="ru-RU" sz="1800" dirty="0">
                <a:effectLst/>
                <a:latin typeface="Times New Roman" panose="02020603050405020304" pitchFamily="18" charset="0"/>
                <a:ea typeface="Times New Roman" panose="02020603050405020304" pitchFamily="18" charset="0"/>
              </a:rPr>
              <a:t> процесса (</a:t>
            </a:r>
            <a:r>
              <a:rPr lang="ru-RU" sz="1800" dirty="0">
                <a:latin typeface="Times New Roman" panose="02020603050405020304" pitchFamily="18" charset="0"/>
                <a:ea typeface="NSimSun" panose="02010609030101010101" pitchFamily="49" charset="-122"/>
              </a:rPr>
              <a:t>геймплея</a:t>
            </a:r>
            <a:r>
              <a:rPr lang="ru-RU" sz="1800" dirty="0">
                <a:effectLst/>
                <a:latin typeface="Times New Roman" panose="02020603050405020304" pitchFamily="18" charset="0"/>
                <a:ea typeface="Times New Roman" panose="02020603050405020304" pitchFamily="18" charset="0"/>
              </a:rPr>
              <a:t>), связи с партнёрами по игре, или сама выступающая в качестве партнёра.</a:t>
            </a:r>
          </a:p>
          <a:p>
            <a:pPr indent="540385" algn="just">
              <a:lnSpc>
                <a:spcPct val="170000"/>
              </a:lnSpc>
            </a:pPr>
            <a:r>
              <a:rPr lang="ru-RU" sz="1800" dirty="0">
                <a:effectLst/>
                <a:latin typeface="Times New Roman" panose="02020603050405020304" pitchFamily="18" charset="0"/>
                <a:ea typeface="Times New Roman" panose="02020603050405020304" pitchFamily="18" charset="0"/>
              </a:rPr>
              <a:t>В настоящее время, в ряде случаев, вместо термина </a:t>
            </a:r>
            <a:r>
              <a:rPr lang="ru-RU" sz="1800" i="1" dirty="0">
                <a:effectLst/>
                <a:latin typeface="Times New Roman" panose="02020603050405020304" pitchFamily="18" charset="0"/>
                <a:ea typeface="Times New Roman" panose="02020603050405020304" pitchFamily="18" charset="0"/>
              </a:rPr>
              <a:t>компьютерная игра</a:t>
            </a:r>
            <a:r>
              <a:rPr lang="ru-RU" sz="1800" dirty="0">
                <a:effectLst/>
                <a:latin typeface="Times New Roman" panose="02020603050405020304" pitchFamily="18" charset="0"/>
                <a:ea typeface="Times New Roman" panose="02020603050405020304" pitchFamily="18" charset="0"/>
              </a:rPr>
              <a:t> может использоваться </a:t>
            </a:r>
            <a:r>
              <a:rPr lang="ru-RU" sz="1800" dirty="0">
                <a:latin typeface="Times New Roman" panose="02020603050405020304" pitchFamily="18" charset="0"/>
                <a:ea typeface="NSimSun" panose="02010609030101010101" pitchFamily="49" charset="-122"/>
              </a:rPr>
              <a:t>видеоигра</a:t>
            </a:r>
            <a:r>
              <a:rPr lang="ru-RU" sz="1800" dirty="0">
                <a:effectLst/>
                <a:latin typeface="Times New Roman" panose="02020603050405020304" pitchFamily="18" charset="0"/>
                <a:ea typeface="Times New Roman" panose="02020603050405020304" pitchFamily="18" charset="0"/>
              </a:rPr>
              <a:t>, то есть данные термины могут употребляться как синонимы и быть взаимозаменяемыми. В компьютерных играх, как правило, игровая ситуация воспроизводится на экране дисплея или обычного телевизора (в этом случае компьютерные игры одновременно являются и </a:t>
            </a:r>
            <a:r>
              <a:rPr lang="ru-RU" sz="1800" dirty="0">
                <a:latin typeface="Times New Roman" panose="02020603050405020304" pitchFamily="18" charset="0"/>
                <a:ea typeface="NSimSun" panose="02010609030101010101" pitchFamily="49" charset="-122"/>
              </a:rPr>
              <a:t>видеоиграми</a:t>
            </a:r>
            <a:r>
              <a:rPr lang="ru-RU" sz="1800" dirty="0">
                <a:effectLst/>
                <a:latin typeface="Times New Roman" panose="02020603050405020304" pitchFamily="18" charset="0"/>
                <a:ea typeface="Times New Roman" panose="02020603050405020304" pitchFamily="18" charset="0"/>
              </a:rPr>
              <a:t>), но в то же время компьютерная игра может быть </a:t>
            </a:r>
            <a:r>
              <a:rPr lang="ru-RU" sz="1800" dirty="0">
                <a:latin typeface="Times New Roman" panose="02020603050405020304" pitchFamily="18" charset="0"/>
                <a:ea typeface="NSimSun" panose="02010609030101010101" pitchFamily="49" charset="-122"/>
              </a:rPr>
              <a:t>звуковой</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NSimSun" panose="02010609030101010101" pitchFamily="49" charset="-122"/>
                <a:hlinkClick r:id="rId2" tooltip="Телетайп">
                  <a:extLst>
                    <a:ext uri="{A12FA001-AC4F-418D-AE19-62706E023703}">
                      <ahyp:hlinkClr xmlns:ahyp="http://schemas.microsoft.com/office/drawing/2018/hyperlinkcolor" val="tx"/>
                    </a:ext>
                  </a:extLst>
                </a:hlinkClick>
              </a:rPr>
              <a:t>телетайповой</a:t>
            </a:r>
            <a:r>
              <a:rPr lang="ru-RU" sz="1800" dirty="0">
                <a:effectLst/>
                <a:latin typeface="Times New Roman" panose="02020603050405020304" pitchFamily="18" charset="0"/>
                <a:ea typeface="Times New Roman" panose="02020603050405020304" pitchFamily="18" charset="0"/>
              </a:rPr>
              <a:t> и др.</a:t>
            </a:r>
          </a:p>
          <a:p>
            <a:pPr indent="540385" algn="just">
              <a:lnSpc>
                <a:spcPct val="170000"/>
              </a:lnSpc>
            </a:pPr>
            <a:r>
              <a:rPr lang="ru-RU" sz="1800" dirty="0">
                <a:effectLst/>
                <a:latin typeface="Times New Roman" panose="02020603050405020304" pitchFamily="18" charset="0"/>
                <a:ea typeface="Times New Roman" panose="02020603050405020304" pitchFamily="18" charset="0"/>
              </a:rPr>
              <a:t>Компьютерные игры могут создаваться на основе </a:t>
            </a:r>
            <a:r>
              <a:rPr lang="ru-RU" sz="1800" dirty="0">
                <a:latin typeface="Times New Roman" panose="02020603050405020304" pitchFamily="18" charset="0"/>
                <a:ea typeface="NSimSun" panose="02010609030101010101" pitchFamily="49" charset="-122"/>
              </a:rPr>
              <a:t>фильмов</a:t>
            </a:r>
            <a:r>
              <a:rPr lang="ru-RU" sz="1800" dirty="0">
                <a:effectLst/>
                <a:latin typeface="Times New Roman" panose="02020603050405020304" pitchFamily="18" charset="0"/>
                <a:ea typeface="Times New Roman" panose="02020603050405020304" pitchFamily="18" charset="0"/>
              </a:rPr>
              <a:t> и </a:t>
            </a:r>
            <a:r>
              <a:rPr lang="ru-RU" sz="1800" dirty="0">
                <a:latin typeface="Times New Roman" panose="02020603050405020304" pitchFamily="18" charset="0"/>
                <a:ea typeface="NSimSun" panose="02010609030101010101" pitchFamily="49" charset="-122"/>
              </a:rPr>
              <a:t>книг</a:t>
            </a:r>
            <a:r>
              <a:rPr lang="ru-RU" sz="1800" dirty="0">
                <a:effectLst/>
                <a:latin typeface="Times New Roman" panose="02020603050405020304" pitchFamily="18" charset="0"/>
                <a:ea typeface="Times New Roman" panose="02020603050405020304" pitchFamily="18" charset="0"/>
              </a:rPr>
              <a:t>; есть и обратные случаи. С 2011 года компьютерные игры официально признаны в </a:t>
            </a:r>
            <a:r>
              <a:rPr lang="ru-RU" sz="1800" dirty="0">
                <a:latin typeface="Times New Roman" panose="02020603050405020304" pitchFamily="18" charset="0"/>
                <a:ea typeface="NSimSun" panose="02010609030101010101" pitchFamily="49" charset="-122"/>
              </a:rPr>
              <a:t>США</a:t>
            </a:r>
            <a:r>
              <a:rPr lang="ru-RU" sz="1800" dirty="0">
                <a:effectLst/>
                <a:latin typeface="Times New Roman" panose="02020603050405020304" pitchFamily="18" charset="0"/>
                <a:ea typeface="Times New Roman" panose="02020603050405020304" pitchFamily="18" charset="0"/>
              </a:rPr>
              <a:t> отдельным </a:t>
            </a:r>
            <a:r>
              <a:rPr lang="ru-RU" sz="1800" dirty="0">
                <a:latin typeface="Times New Roman" panose="02020603050405020304" pitchFamily="18" charset="0"/>
                <a:ea typeface="NSimSun" panose="02010609030101010101" pitchFamily="49" charset="-122"/>
              </a:rPr>
              <a:t>видом искусства</a:t>
            </a:r>
            <a:r>
              <a:rPr lang="ru-RU" sz="1800" dirty="0">
                <a:effectLst/>
                <a:latin typeface="Times New Roman" panose="02020603050405020304" pitchFamily="18" charset="0"/>
                <a:ea typeface="Times New Roman" panose="02020603050405020304" pitchFamily="18" charset="0"/>
              </a:rPr>
              <a:t>.</a:t>
            </a:r>
          </a:p>
          <a:p>
            <a:endParaRPr lang="ru-RU" dirty="0"/>
          </a:p>
        </p:txBody>
      </p:sp>
      <p:pic>
        <p:nvPicPr>
          <p:cNvPr id="1026" name="Picture 2" descr="Компьютерная игра — Википедия">
            <a:extLst>
              <a:ext uri="{FF2B5EF4-FFF2-40B4-BE49-F238E27FC236}">
                <a16:creationId xmlns:a16="http://schemas.microsoft.com/office/drawing/2014/main" id="{663EDE98-6D94-440C-8DE5-D87CD3AD1B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2438" y="1294068"/>
            <a:ext cx="3954162" cy="3954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323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A4A5E3-D903-479B-B9B9-249FCC2FF2BA}"/>
              </a:ext>
            </a:extLst>
          </p:cNvPr>
          <p:cNvSpPr>
            <a:spLocks noGrp="1"/>
          </p:cNvSpPr>
          <p:nvPr>
            <p:ph type="title"/>
          </p:nvPr>
        </p:nvSpPr>
        <p:spPr>
          <a:xfrm>
            <a:off x="682831" y="173661"/>
            <a:ext cx="10396882" cy="1151965"/>
          </a:xfrm>
        </p:spPr>
        <p:txBody>
          <a:bodyPr/>
          <a:lstStyle/>
          <a:p>
            <a:r>
              <a:rPr lang="ru-RU" b="1" dirty="0"/>
              <a:t>Концепция и цели</a:t>
            </a:r>
            <a:endParaRPr lang="ru-RU" dirty="0"/>
          </a:p>
        </p:txBody>
      </p:sp>
      <p:sp>
        <p:nvSpPr>
          <p:cNvPr id="3" name="Объект 2">
            <a:extLst>
              <a:ext uri="{FF2B5EF4-FFF2-40B4-BE49-F238E27FC236}">
                <a16:creationId xmlns:a16="http://schemas.microsoft.com/office/drawing/2014/main" id="{5FCDB951-5F44-4D1D-B914-2C7DA65ED1E8}"/>
              </a:ext>
            </a:extLst>
          </p:cNvPr>
          <p:cNvSpPr>
            <a:spLocks noGrp="1"/>
          </p:cNvSpPr>
          <p:nvPr>
            <p:ph sz="quarter" idx="13"/>
          </p:nvPr>
        </p:nvSpPr>
        <p:spPr>
          <a:xfrm>
            <a:off x="148281" y="683741"/>
            <a:ext cx="5815913" cy="4690845"/>
          </a:xfrm>
        </p:spPr>
        <p:txBody>
          <a:bodyPr>
            <a:normAutofit/>
          </a:bodyPr>
          <a:lstStyle/>
          <a:p>
            <a:r>
              <a:rPr lang="ru-RU" sz="1800" dirty="0">
                <a:latin typeface="Times New Roman" panose="02020603050405020304" pitchFamily="18" charset="0"/>
                <a:cs typeface="Times New Roman" panose="02020603050405020304" pitchFamily="18" charset="0"/>
              </a:rPr>
              <a:t>«</a:t>
            </a:r>
            <a:r>
              <a:rPr lang="ru-RU" sz="1800" dirty="0" err="1">
                <a:latin typeface="Times New Roman" panose="02020603050405020304" pitchFamily="18" charset="0"/>
                <a:cs typeface="Times New Roman" panose="02020603050405020304" pitchFamily="18" charset="0"/>
              </a:rPr>
              <a:t>FakeRunner</a:t>
            </a:r>
            <a:r>
              <a:rPr lang="ru-RU" sz="1800" dirty="0">
                <a:latin typeface="Times New Roman" panose="02020603050405020304" pitchFamily="18" charset="0"/>
                <a:cs typeface="Times New Roman" panose="02020603050405020304" pitchFamily="18" charset="0"/>
              </a:rPr>
              <a:t> — это:</a:t>
            </a:r>
          </a:p>
          <a:p>
            <a:r>
              <a:rPr lang="ru-RU" sz="1800" dirty="0">
                <a:latin typeface="Times New Roman" panose="02020603050405020304" pitchFamily="18" charset="0"/>
                <a:cs typeface="Times New Roman" panose="02020603050405020304" pitchFamily="18" charset="0"/>
              </a:rPr>
              <a:t>Игра-вызов с 4 уровнями сложности.</a:t>
            </a:r>
          </a:p>
          <a:p>
            <a:r>
              <a:rPr lang="ru-RU" sz="1800" dirty="0">
                <a:latin typeface="Times New Roman" panose="02020603050405020304" pitchFamily="18" charset="0"/>
                <a:cs typeface="Times New Roman" panose="02020603050405020304" pitchFamily="18" charset="0"/>
              </a:rPr>
              <a:t>Пародия на агрессивную монетизацию в мобильных играх (например, "</a:t>
            </a:r>
            <a:r>
              <a:rPr lang="ru-RU" sz="1800" dirty="0" err="1">
                <a:latin typeface="Times New Roman" panose="02020603050405020304" pitchFamily="18" charset="0"/>
                <a:cs typeface="Times New Roman" panose="02020603050405020304" pitchFamily="18" charset="0"/>
              </a:rPr>
              <a:t>чекпоинты</a:t>
            </a:r>
            <a:r>
              <a:rPr lang="ru-RU" sz="1800" dirty="0">
                <a:latin typeface="Times New Roman" panose="02020603050405020304" pitchFamily="18" charset="0"/>
                <a:cs typeface="Times New Roman" panose="02020603050405020304" pitchFamily="18" charset="0"/>
              </a:rPr>
              <a:t> за кристаллы").</a:t>
            </a:r>
          </a:p>
          <a:p>
            <a:r>
              <a:rPr lang="ru-RU" sz="1800" dirty="0">
                <a:latin typeface="Times New Roman" panose="02020603050405020304" pitchFamily="18" charset="0"/>
                <a:cs typeface="Times New Roman" panose="02020603050405020304" pitchFamily="18" charset="0"/>
              </a:rPr>
              <a:t>Персонаж </a:t>
            </a:r>
            <a:r>
              <a:rPr lang="ru-RU" sz="1800" dirty="0" err="1">
                <a:latin typeface="Times New Roman" panose="02020603050405020304" pitchFamily="18" charset="0"/>
                <a:cs typeface="Times New Roman" panose="02020603050405020304" pitchFamily="18" charset="0"/>
              </a:rPr>
              <a:t>Чупчик</a:t>
            </a:r>
            <a:r>
              <a:rPr lang="ru-RU" sz="1800" dirty="0">
                <a:latin typeface="Times New Roman" panose="02020603050405020304" pitchFamily="18" charset="0"/>
                <a:cs typeface="Times New Roman" panose="02020603050405020304" pitchFamily="18" charset="0"/>
              </a:rPr>
              <a:t>, который умеет только прыгать... но этого мало!»</a:t>
            </a:r>
          </a:p>
        </p:txBody>
      </p:sp>
      <p:pic>
        <p:nvPicPr>
          <p:cNvPr id="2054" name="Picture 6" descr="Spacewar! Real-Time Capability of the PDP-1, by J.M. Graetz (Decus  Proceedings 1962)">
            <a:extLst>
              <a:ext uri="{FF2B5EF4-FFF2-40B4-BE49-F238E27FC236}">
                <a16:creationId xmlns:a16="http://schemas.microsoft.com/office/drawing/2014/main" id="{4FCC3D70-D6A3-41C1-9F29-68075B50C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8743" y="889687"/>
            <a:ext cx="5007455" cy="37944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05777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43C588-5637-4B80-98BB-9EE2ABF95B28}"/>
              </a:ext>
            </a:extLst>
          </p:cNvPr>
          <p:cNvSpPr>
            <a:spLocks noGrp="1"/>
          </p:cNvSpPr>
          <p:nvPr>
            <p:ph type="title"/>
          </p:nvPr>
        </p:nvSpPr>
        <p:spPr>
          <a:xfrm>
            <a:off x="381001" y="271565"/>
            <a:ext cx="10396882" cy="1151965"/>
          </a:xfrm>
        </p:spPr>
        <p:txBody>
          <a:bodyPr>
            <a:normAutofit fontScale="90000"/>
          </a:bodyPr>
          <a:lstStyle/>
          <a:p>
            <a:r>
              <a:rPr lang="ru-RU" dirty="0"/>
              <a:t>Составляющее компьютерной игры</a:t>
            </a:r>
          </a:p>
        </p:txBody>
      </p:sp>
      <p:sp>
        <p:nvSpPr>
          <p:cNvPr id="3" name="Объект 2">
            <a:extLst>
              <a:ext uri="{FF2B5EF4-FFF2-40B4-BE49-F238E27FC236}">
                <a16:creationId xmlns:a16="http://schemas.microsoft.com/office/drawing/2014/main" id="{76959EAC-C06A-41BC-83F1-0655F1BBA98C}"/>
              </a:ext>
            </a:extLst>
          </p:cNvPr>
          <p:cNvSpPr>
            <a:spLocks noGrp="1"/>
          </p:cNvSpPr>
          <p:nvPr>
            <p:ph sz="quarter" idx="13"/>
          </p:nvPr>
        </p:nvSpPr>
        <p:spPr>
          <a:xfrm>
            <a:off x="685800" y="1491050"/>
            <a:ext cx="5920946" cy="3883536"/>
          </a:xfrm>
        </p:spPr>
        <p:txBody>
          <a:bodyPr>
            <a:normAutofit fontScale="62500" lnSpcReduction="20000"/>
          </a:bodyPr>
          <a:lstStyle/>
          <a:p>
            <a:pPr fontAlgn="auto">
              <a:spcAft>
                <a:spcPts val="800"/>
              </a:spcAft>
              <a:tabLst>
                <a:tab pos="3295650" algn="l"/>
              </a:tabLst>
            </a:pPr>
            <a:r>
              <a:rPr lang="ru-RU" sz="1800" b="1" kern="150" dirty="0">
                <a:effectLst/>
                <a:latin typeface="Times New Roman" panose="02020603050405020304" pitchFamily="18" charset="0"/>
                <a:ea typeface="NSimSun" panose="02010609030101010101" pitchFamily="49" charset="-122"/>
                <a:cs typeface="Times New Roman" panose="02020603050405020304" pitchFamily="18" charset="0"/>
              </a:rPr>
              <a:t>Сеттинг</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pPr indent="270510" fontAlgn="auto">
              <a:spcAft>
                <a:spcPts val="800"/>
              </a:spcAft>
              <a:tabLst>
                <a:tab pos="3295650" algn="l"/>
              </a:tabLst>
            </a:pP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Сеттинг - это</a:t>
            </a:r>
            <a:r>
              <a:rPr lang="ru-RU" sz="1800" kern="150" dirty="0">
                <a:solidFill>
                  <a:srgbClr val="202122"/>
                </a:solidFill>
                <a:effectLst/>
                <a:latin typeface="Times New Roman" panose="02020603050405020304" pitchFamily="18" charset="0"/>
                <a:ea typeface="NSimSun" panose="02010609030101010101" pitchFamily="49" charset="-122"/>
                <a:cs typeface="Times New Roman" panose="02020603050405020304" pitchFamily="18" charset="0"/>
              </a:rPr>
              <a:t> среда, в которой происходит действие компьютерной игры; место, время и условия действия.</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pPr fontAlgn="auto">
              <a:spcAft>
                <a:spcPts val="800"/>
              </a:spcAft>
              <a:tabLst>
                <a:tab pos="3295650" algn="l"/>
              </a:tabLst>
            </a:pPr>
            <a:r>
              <a:rPr lang="ru-RU" sz="1800" b="1" kern="150" dirty="0">
                <a:solidFill>
                  <a:srgbClr val="202122"/>
                </a:solidFill>
                <a:effectLst/>
                <a:latin typeface="Times New Roman" panose="02020603050405020304" pitchFamily="18" charset="0"/>
                <a:ea typeface="NSimSun" panose="02010609030101010101" pitchFamily="49" charset="-122"/>
                <a:cs typeface="Times New Roman" panose="02020603050405020304" pitchFamily="18" charset="0"/>
              </a:rPr>
              <a:t>Геймплей</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pPr indent="270510" fontAlgn="auto">
              <a:spcAft>
                <a:spcPts val="800"/>
              </a:spcAft>
              <a:tabLst>
                <a:tab pos="3295650" algn="l"/>
              </a:tabLst>
            </a:pPr>
            <a:r>
              <a:rPr lang="ru-RU" sz="1800" kern="150" dirty="0">
                <a:solidFill>
                  <a:srgbClr val="202122"/>
                </a:solidFill>
                <a:effectLst/>
                <a:latin typeface="Times New Roman" panose="02020603050405020304" pitchFamily="18" charset="0"/>
                <a:ea typeface="NSimSun" panose="02010609030101010101" pitchFamily="49" charset="-122"/>
                <a:cs typeface="Times New Roman" panose="02020603050405020304" pitchFamily="18" charset="0"/>
              </a:rPr>
              <a:t>Геймплей – это компонент игры, отвечающий за интерактивное взаимодействие игры и игрока. Геймплей описывает, как игрок взаимодействует с игровым миром, как игровой мир реагирует на действия игрока и как определяется набор действий, который предлагает игроку игра.</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pPr fontAlgn="auto">
              <a:spcAft>
                <a:spcPts val="800"/>
              </a:spcAft>
              <a:tabLst>
                <a:tab pos="3295650" algn="l"/>
              </a:tabLst>
            </a:pPr>
            <a:r>
              <a:rPr lang="ru-RU" sz="1800" b="1" kern="150" dirty="0">
                <a:solidFill>
                  <a:srgbClr val="202122"/>
                </a:solidFill>
                <a:effectLst/>
                <a:latin typeface="Times New Roman" panose="02020603050405020304" pitchFamily="18" charset="0"/>
                <a:ea typeface="NSimSun" panose="02010609030101010101" pitchFamily="49" charset="-122"/>
                <a:cs typeface="Times New Roman" panose="02020603050405020304" pitchFamily="18" charset="0"/>
              </a:rPr>
              <a:t>Музыка</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pPr fontAlgn="auto">
              <a:spcAft>
                <a:spcPts val="800"/>
              </a:spcAft>
              <a:tabLst>
                <a:tab pos="3295650" algn="l"/>
              </a:tabLst>
            </a:pPr>
            <a:r>
              <a:rPr lang="ru-RU" sz="1800" kern="150" dirty="0">
                <a:solidFill>
                  <a:srgbClr val="202122"/>
                </a:solidFill>
                <a:effectLst/>
                <a:latin typeface="Times New Roman" panose="02020603050405020304" pitchFamily="18" charset="0"/>
                <a:ea typeface="NSimSun" panose="02010609030101010101" pitchFamily="49" charset="-122"/>
                <a:cs typeface="Times New Roman" panose="02020603050405020304" pitchFamily="18" charset="0"/>
              </a:rPr>
              <a:t>Музыка в компьютерных и/или видеоиграх — это любые мелодии, композиции или саундтреки видеоигр.</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endParaRPr lang="ru-RU" dirty="0"/>
          </a:p>
        </p:txBody>
      </p:sp>
      <p:pic>
        <p:nvPicPr>
          <p:cNvPr id="4100" name="Picture 4" descr="МУЗЫКА - YouTube">
            <a:extLst>
              <a:ext uri="{FF2B5EF4-FFF2-40B4-BE49-F238E27FC236}">
                <a16:creationId xmlns:a16="http://schemas.microsoft.com/office/drawing/2014/main" id="{2D422C6D-08AF-4350-9F45-BCC049178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2784" y="2990087"/>
            <a:ext cx="1431517" cy="143151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4102" name="Picture 6" descr="Появился геймплей PC-версии Horizon Zero Dawn с максимальными настройками">
            <a:extLst>
              <a:ext uri="{FF2B5EF4-FFF2-40B4-BE49-F238E27FC236}">
                <a16:creationId xmlns:a16="http://schemas.microsoft.com/office/drawing/2014/main" id="{D6570F69-4D02-468D-87C4-AB348DA13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5220" y="1491049"/>
            <a:ext cx="2544919" cy="143151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5" name="Рисунок 4">
            <a:extLst>
              <a:ext uri="{FF2B5EF4-FFF2-40B4-BE49-F238E27FC236}">
                <a16:creationId xmlns:a16="http://schemas.microsoft.com/office/drawing/2014/main" id="{38E7F3C6-F19F-4235-9385-884FD24C1F86}"/>
              </a:ext>
            </a:extLst>
          </p:cNvPr>
          <p:cNvPicPr>
            <a:picLocks noChangeAspect="1"/>
          </p:cNvPicPr>
          <p:nvPr/>
        </p:nvPicPr>
        <p:blipFill>
          <a:blip r:embed="rId4"/>
          <a:stretch>
            <a:fillRect/>
          </a:stretch>
        </p:blipFill>
        <p:spPr>
          <a:xfrm>
            <a:off x="6716495" y="1491050"/>
            <a:ext cx="2248977" cy="143151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387339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77B6DA-4AAB-4142-8AC8-C0289B7B86E2}"/>
              </a:ext>
            </a:extLst>
          </p:cNvPr>
          <p:cNvSpPr>
            <a:spLocks noGrp="1"/>
          </p:cNvSpPr>
          <p:nvPr>
            <p:ph type="title"/>
          </p:nvPr>
        </p:nvSpPr>
        <p:spPr>
          <a:xfrm>
            <a:off x="453081" y="222422"/>
            <a:ext cx="10629602" cy="1615343"/>
          </a:xfrm>
        </p:spPr>
        <p:txBody>
          <a:bodyPr>
            <a:normAutofit/>
          </a:bodyPr>
          <a:lstStyle/>
          <a:p>
            <a:r>
              <a:rPr lang="ru-RU" b="1" dirty="0" err="1"/>
              <a:t>еймплей</a:t>
            </a:r>
            <a:r>
              <a:rPr lang="ru-RU" b="1" dirty="0"/>
              <a:t> и фишки</a:t>
            </a:r>
            <a:endParaRPr lang="ru-RU" dirty="0"/>
          </a:p>
        </p:txBody>
      </p:sp>
      <p:sp>
        <p:nvSpPr>
          <p:cNvPr id="3" name="Объект 2">
            <a:extLst>
              <a:ext uri="{FF2B5EF4-FFF2-40B4-BE49-F238E27FC236}">
                <a16:creationId xmlns:a16="http://schemas.microsoft.com/office/drawing/2014/main" id="{BCB2B071-06D3-496E-93AC-505C2DF25A37}"/>
              </a:ext>
            </a:extLst>
          </p:cNvPr>
          <p:cNvSpPr>
            <a:spLocks noGrp="1"/>
          </p:cNvSpPr>
          <p:nvPr>
            <p:ph sz="quarter" idx="13"/>
          </p:nvPr>
        </p:nvSpPr>
        <p:spPr>
          <a:xfrm>
            <a:off x="453080" y="1351005"/>
            <a:ext cx="5173363" cy="3900254"/>
          </a:xfrm>
        </p:spPr>
        <p:txBody>
          <a:bodyPr>
            <a:normAutofit lnSpcReduction="10000"/>
          </a:bodyPr>
          <a:lstStyle/>
          <a:p>
            <a:r>
              <a:rPr lang="ru-RU" sz="1600" dirty="0">
                <a:latin typeface="Times New Roman" panose="02020603050405020304" pitchFamily="18" charset="0"/>
                <a:cs typeface="Times New Roman" panose="02020603050405020304" pitchFamily="18" charset="0"/>
              </a:rPr>
              <a:t>Что делает игру особенной:</a:t>
            </a:r>
          </a:p>
          <a:p>
            <a:r>
              <a:rPr lang="ru-RU" sz="1600" b="1" dirty="0">
                <a:latin typeface="Times New Roman" panose="02020603050405020304" pitchFamily="18" charset="0"/>
                <a:cs typeface="Times New Roman" panose="02020603050405020304" pitchFamily="18" charset="0"/>
              </a:rPr>
              <a:t>Обманные механики</a:t>
            </a:r>
            <a:r>
              <a:rPr lang="ru-RU" sz="1600" dirty="0">
                <a:latin typeface="Times New Roman" panose="02020603050405020304" pitchFamily="18" charset="0"/>
                <a:cs typeface="Times New Roman" panose="02020603050405020304" pitchFamily="18" charset="0"/>
              </a:rPr>
              <a:t>: прозрачные платформы, которые исчезают.</a:t>
            </a:r>
          </a:p>
          <a:p>
            <a:r>
              <a:rPr lang="ru-RU" sz="1600" b="1" dirty="0" err="1">
                <a:latin typeface="Times New Roman" panose="02020603050405020304" pitchFamily="18" charset="0"/>
                <a:cs typeface="Times New Roman" panose="02020603050405020304" pitchFamily="18" charset="0"/>
              </a:rPr>
              <a:t>Чекпоинты</a:t>
            </a:r>
            <a:r>
              <a:rPr lang="ru-RU" sz="1600" dirty="0">
                <a:latin typeface="Times New Roman" panose="02020603050405020304" pitchFamily="18" charset="0"/>
                <a:cs typeface="Times New Roman" panose="02020603050405020304" pitchFamily="18" charset="0"/>
              </a:rPr>
              <a:t> — но только если их активировал!</a:t>
            </a:r>
          </a:p>
          <a:p>
            <a:r>
              <a:rPr lang="ru-RU" sz="1600" b="1" dirty="0">
                <a:latin typeface="Times New Roman" panose="02020603050405020304" pitchFamily="18" charset="0"/>
                <a:cs typeface="Times New Roman" panose="02020603050405020304" pitchFamily="18" charset="0"/>
              </a:rPr>
              <a:t>Уровни</a:t>
            </a:r>
            <a:r>
              <a:rPr lang="ru-RU" sz="1600" dirty="0">
                <a:latin typeface="Times New Roman" panose="02020603050405020304" pitchFamily="18" charset="0"/>
                <a:cs typeface="Times New Roman" panose="02020603050405020304" pitchFamily="18" charset="0"/>
              </a:rPr>
              <a:t>: от простого к хаосу (на 4-м нужно собрать звёзды).</a:t>
            </a:r>
          </a:p>
          <a:p>
            <a:r>
              <a:rPr lang="ru-RU" sz="1600" b="1" dirty="0" err="1">
                <a:latin typeface="Times New Roman" panose="02020603050405020304" pitchFamily="18" charset="0"/>
                <a:cs typeface="Times New Roman" panose="02020603050405020304" pitchFamily="18" charset="0"/>
              </a:rPr>
              <a:t>Ачивки</a:t>
            </a:r>
            <a:r>
              <a:rPr lang="ru-RU" sz="1600" b="1" dirty="0">
                <a:latin typeface="Times New Roman" panose="02020603050405020304" pitchFamily="18" charset="0"/>
                <a:cs typeface="Times New Roman" panose="02020603050405020304" pitchFamily="18" charset="0"/>
              </a:rPr>
              <a:t>(достижения)</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Простые шуточные достижения.</a:t>
            </a:r>
            <a:endParaRPr lang="ru-RU" sz="1600" b="1" dirty="0">
              <a:latin typeface="Times New Roman" panose="02020603050405020304" pitchFamily="18" charset="0"/>
              <a:cs typeface="Times New Roman" panose="02020603050405020304" pitchFamily="18" charset="0"/>
            </a:endParaRPr>
          </a:p>
          <a:p>
            <a:r>
              <a:rPr lang="ru-RU" sz="1600" b="1" dirty="0">
                <a:latin typeface="Times New Roman" panose="02020603050405020304" pitchFamily="18" charset="0"/>
                <a:cs typeface="Times New Roman" panose="02020603050405020304" pitchFamily="18" charset="0"/>
              </a:rPr>
              <a:t>Магазин с абсурдными покупками</a:t>
            </a:r>
            <a:r>
              <a:rPr lang="ru-RU" sz="1600" dirty="0">
                <a:latin typeface="Times New Roman" panose="02020603050405020304" pitchFamily="18" charset="0"/>
                <a:cs typeface="Times New Roman" panose="02020603050405020304" pitchFamily="18" charset="0"/>
              </a:rPr>
              <a:t> (счётчик смертей за 9999$).</a:t>
            </a:r>
          </a:p>
        </p:txBody>
      </p:sp>
      <p:pic>
        <p:nvPicPr>
          <p:cNvPr id="7170" name="Picture 2" descr="Construct 2 r279 на русском крякнутая полная версия скачать бесплатно">
            <a:extLst>
              <a:ext uri="{FF2B5EF4-FFF2-40B4-BE49-F238E27FC236}">
                <a16:creationId xmlns:a16="http://schemas.microsoft.com/office/drawing/2014/main" id="{5D793F20-FDFF-4D9E-BED7-DA8B3AB41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9524" y="1495531"/>
            <a:ext cx="5038983" cy="321542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590907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D6D534-EDCB-4F42-B1A1-6032E96A2DD1}"/>
              </a:ext>
            </a:extLst>
          </p:cNvPr>
          <p:cNvSpPr>
            <a:spLocks noGrp="1"/>
          </p:cNvSpPr>
          <p:nvPr>
            <p:ph type="title"/>
          </p:nvPr>
        </p:nvSpPr>
        <p:spPr>
          <a:xfrm>
            <a:off x="488092" y="355559"/>
            <a:ext cx="10396882" cy="1151965"/>
          </a:xfrm>
        </p:spPr>
        <p:txBody>
          <a:bodyPr>
            <a:normAutofit/>
          </a:bodyPr>
          <a:lstStyle/>
          <a:p>
            <a:r>
              <a:rPr lang="ru-RU" b="1" dirty="0"/>
              <a:t>Техническая реализация</a:t>
            </a:r>
            <a:endParaRPr lang="ru-RU" dirty="0"/>
          </a:p>
        </p:txBody>
      </p:sp>
      <p:sp>
        <p:nvSpPr>
          <p:cNvPr id="3" name="Объект 2">
            <a:extLst>
              <a:ext uri="{FF2B5EF4-FFF2-40B4-BE49-F238E27FC236}">
                <a16:creationId xmlns:a16="http://schemas.microsoft.com/office/drawing/2014/main" id="{9548F364-F9A4-4C4A-AD63-A6E476156B95}"/>
              </a:ext>
            </a:extLst>
          </p:cNvPr>
          <p:cNvSpPr>
            <a:spLocks noGrp="1"/>
          </p:cNvSpPr>
          <p:nvPr>
            <p:ph sz="quarter" idx="13"/>
          </p:nvPr>
        </p:nvSpPr>
        <p:spPr>
          <a:xfrm>
            <a:off x="197709" y="1507524"/>
            <a:ext cx="5099222" cy="3978877"/>
          </a:xfrm>
        </p:spPr>
        <p:txBody>
          <a:bodyPr>
            <a:normAutofit/>
          </a:bodyPr>
          <a:lstStyle/>
          <a:p>
            <a:r>
              <a:rPr lang="ru-RU" sz="1800" dirty="0">
                <a:latin typeface="Times New Roman" panose="02020603050405020304" pitchFamily="18" charset="0"/>
                <a:cs typeface="Times New Roman" panose="02020603050405020304" pitchFamily="18" charset="0"/>
              </a:rPr>
              <a:t>Всё сделано без программирования:</a:t>
            </a:r>
          </a:p>
          <a:p>
            <a:r>
              <a:rPr lang="ru-RU" sz="1800" dirty="0">
                <a:latin typeface="Times New Roman" panose="02020603050405020304" pitchFamily="18" charset="0"/>
                <a:cs typeface="Times New Roman" panose="02020603050405020304" pitchFamily="18" charset="0"/>
              </a:rPr>
              <a:t>Движок </a:t>
            </a:r>
            <a:r>
              <a:rPr lang="ru-RU" sz="1800" dirty="0" err="1">
                <a:latin typeface="Times New Roman" panose="02020603050405020304" pitchFamily="18" charset="0"/>
                <a:cs typeface="Times New Roman" panose="02020603050405020304" pitchFamily="18" charset="0"/>
              </a:rPr>
              <a:t>Construct</a:t>
            </a:r>
            <a:r>
              <a:rPr lang="ru-RU" sz="1800" dirty="0">
                <a:latin typeface="Times New Roman" panose="02020603050405020304" pitchFamily="18" charset="0"/>
                <a:cs typeface="Times New Roman" panose="02020603050405020304" pitchFamily="18" charset="0"/>
              </a:rPr>
              <a:t> 2 — логика на событиях (например, "если игрок упал — </a:t>
            </a:r>
            <a:r>
              <a:rPr lang="ru-RU" sz="1800" dirty="0" err="1">
                <a:latin typeface="Times New Roman" panose="02020603050405020304" pitchFamily="18" charset="0"/>
                <a:cs typeface="Times New Roman" panose="02020603050405020304" pitchFamily="18" charset="0"/>
              </a:rPr>
              <a:t>респавн</a:t>
            </a:r>
            <a:r>
              <a:rPr lang="ru-RU" sz="1800" dirty="0">
                <a:latin typeface="Times New Roman" panose="02020603050405020304" pitchFamily="18" charset="0"/>
                <a:cs typeface="Times New Roman" panose="02020603050405020304" pitchFamily="18" charset="0"/>
              </a:rPr>
              <a:t> у </a:t>
            </a:r>
            <a:r>
              <a:rPr lang="ru-RU" sz="1800" dirty="0" err="1">
                <a:latin typeface="Times New Roman" panose="02020603050405020304" pitchFamily="18" charset="0"/>
                <a:cs typeface="Times New Roman" panose="02020603050405020304" pitchFamily="18" charset="0"/>
              </a:rPr>
              <a:t>чекпоинта</a:t>
            </a:r>
            <a:r>
              <a:rPr lang="ru-RU" sz="1800" dirty="0">
                <a:latin typeface="Times New Roman" panose="02020603050405020304" pitchFamily="18" charset="0"/>
                <a:cs typeface="Times New Roman" panose="02020603050405020304" pitchFamily="18" charset="0"/>
              </a:rPr>
              <a:t>").</a:t>
            </a:r>
          </a:p>
          <a:p>
            <a:r>
              <a:rPr lang="ru-RU" sz="1800" dirty="0">
                <a:latin typeface="Times New Roman" panose="02020603050405020304" pitchFamily="18" charset="0"/>
                <a:cs typeface="Times New Roman" panose="02020603050405020304" pitchFamily="18" charset="0"/>
              </a:rPr>
              <a:t>Готовые поведения: </a:t>
            </a:r>
            <a:r>
              <a:rPr lang="ru-RU" sz="1800" dirty="0" err="1">
                <a:latin typeface="Times New Roman" panose="02020603050405020304" pitchFamily="18" charset="0"/>
                <a:cs typeface="Times New Roman" panose="02020603050405020304" pitchFamily="18" charset="0"/>
              </a:rPr>
              <a:t>Platformer</a:t>
            </a:r>
            <a:r>
              <a:rPr lang="ru-RU" sz="1800" dirty="0">
                <a:latin typeface="Times New Roman" panose="02020603050405020304" pitchFamily="18" charset="0"/>
                <a:cs typeface="Times New Roman" panose="02020603050405020304" pitchFamily="18" charset="0"/>
              </a:rPr>
              <a:t> для прыжков, </a:t>
            </a:r>
            <a:r>
              <a:rPr lang="ru-RU" sz="1800" dirty="0" err="1">
                <a:latin typeface="Times New Roman" panose="02020603050405020304" pitchFamily="18" charset="0"/>
                <a:cs typeface="Times New Roman" panose="02020603050405020304" pitchFamily="18" charset="0"/>
              </a:rPr>
              <a:t>Pathfinding</a:t>
            </a:r>
            <a:r>
              <a:rPr lang="ru-RU" sz="1800" dirty="0">
                <a:latin typeface="Times New Roman" panose="02020603050405020304" pitchFamily="18" charset="0"/>
                <a:cs typeface="Times New Roman" panose="02020603050405020304" pitchFamily="18" charset="0"/>
              </a:rPr>
              <a:t> для врагов.</a:t>
            </a:r>
          </a:p>
          <a:p>
            <a:r>
              <a:rPr lang="ru-RU" sz="1800" dirty="0">
                <a:latin typeface="Times New Roman" panose="02020603050405020304" pitchFamily="18" charset="0"/>
                <a:cs typeface="Times New Roman" panose="02020603050405020304" pitchFamily="18" charset="0"/>
              </a:rPr>
              <a:t>Оптимизация под мобильные устройства (упрощение физики Box2D).</a:t>
            </a:r>
          </a:p>
          <a:p>
            <a:endParaRPr lang="ru-RU" dirty="0"/>
          </a:p>
        </p:txBody>
      </p:sp>
      <p:pic>
        <p:nvPicPr>
          <p:cNvPr id="6" name="Picture 2" descr="Construct 2 r279 на русском крякнутая полная версия скачать бесплатно">
            <a:extLst>
              <a:ext uri="{FF2B5EF4-FFF2-40B4-BE49-F238E27FC236}">
                <a16:creationId xmlns:a16="http://schemas.microsoft.com/office/drawing/2014/main" id="{7E20EC70-096E-86C4-E370-C04D6A7CE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507524"/>
            <a:ext cx="5038983" cy="321542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79689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915DA9-9DDD-4D44-A277-D5F838D6B838}"/>
              </a:ext>
            </a:extLst>
          </p:cNvPr>
          <p:cNvSpPr>
            <a:spLocks noGrp="1"/>
          </p:cNvSpPr>
          <p:nvPr>
            <p:ph type="title"/>
          </p:nvPr>
        </p:nvSpPr>
        <p:spPr>
          <a:xfrm>
            <a:off x="603422" y="240957"/>
            <a:ext cx="10396882" cy="1151965"/>
          </a:xfrm>
        </p:spPr>
        <p:txBody>
          <a:bodyPr/>
          <a:lstStyle/>
          <a:p>
            <a:r>
              <a:rPr lang="ru-RU" dirty="0"/>
              <a:t>Функциональность</a:t>
            </a:r>
          </a:p>
        </p:txBody>
      </p:sp>
      <p:sp>
        <p:nvSpPr>
          <p:cNvPr id="3" name="Объект 2">
            <a:extLst>
              <a:ext uri="{FF2B5EF4-FFF2-40B4-BE49-F238E27FC236}">
                <a16:creationId xmlns:a16="http://schemas.microsoft.com/office/drawing/2014/main" id="{F17FF4EE-A8A7-44EB-B4BC-9B1CE3A45D60}"/>
              </a:ext>
            </a:extLst>
          </p:cNvPr>
          <p:cNvSpPr>
            <a:spLocks noGrp="1"/>
          </p:cNvSpPr>
          <p:nvPr>
            <p:ph sz="quarter" idx="13"/>
          </p:nvPr>
        </p:nvSpPr>
        <p:spPr>
          <a:xfrm>
            <a:off x="354227" y="1070919"/>
            <a:ext cx="5931244" cy="4580240"/>
          </a:xfrm>
        </p:spPr>
        <p:txBody>
          <a:bodyPr>
            <a:normAutofit fontScale="55000" lnSpcReduction="20000"/>
          </a:bodyPr>
          <a:lstStyle/>
          <a:p>
            <a:pPr indent="450215">
              <a:spcBef>
                <a:spcPts val="600"/>
              </a:spcBef>
              <a:spcAft>
                <a:spcPts val="600"/>
              </a:spcAft>
            </a:pPr>
            <a:r>
              <a:rPr lang="ru-RU" sz="1800" dirty="0">
                <a:effectLst/>
                <a:latin typeface="Times New Roman" panose="02020603050405020304" pitchFamily="18" charset="0"/>
                <a:ea typeface="Times New Roman" panose="02020603050405020304" pitchFamily="18" charset="0"/>
              </a:rPr>
              <a:t>Редактор </a:t>
            </a:r>
            <a:r>
              <a:rPr lang="ru-RU" sz="1800" dirty="0" err="1">
                <a:effectLst/>
                <a:latin typeface="Times New Roman" panose="02020603050405020304" pitchFamily="18" charset="0"/>
                <a:ea typeface="Times New Roman" panose="02020603050405020304" pitchFamily="18" charset="0"/>
              </a:rPr>
              <a:t>Construct</a:t>
            </a:r>
            <a:r>
              <a:rPr lang="ru-RU" sz="1800" dirty="0">
                <a:effectLst/>
                <a:latin typeface="Times New Roman" panose="02020603050405020304" pitchFamily="18" charset="0"/>
                <a:ea typeface="Times New Roman" panose="02020603050405020304" pitchFamily="18" charset="0"/>
              </a:rPr>
              <a:t> 2 написан на языке </a:t>
            </a:r>
            <a:r>
              <a:rPr lang="ru-RU" sz="1800" dirty="0">
                <a:effectLst/>
                <a:latin typeface="Times New Roman" panose="02020603050405020304" pitchFamily="18" charset="0"/>
                <a:ea typeface="NSimSun" panose="02010609030101010101" pitchFamily="49" charset="-122"/>
                <a:hlinkClick r:id="rId2" tooltip="C++">
                  <a:extLst>
                    <a:ext uri="{A12FA001-AC4F-418D-AE19-62706E023703}">
                      <ahyp:hlinkClr xmlns:ahyp="http://schemas.microsoft.com/office/drawing/2018/hyperlinkcolor" val="tx"/>
                    </a:ext>
                  </a:extLst>
                </a:hlinkClick>
              </a:rPr>
              <a:t>C++</a:t>
            </a:r>
            <a:r>
              <a:rPr lang="ru-RU" sz="1800" dirty="0">
                <a:effectLst/>
                <a:latin typeface="Times New Roman" panose="02020603050405020304" pitchFamily="18" charset="0"/>
                <a:ea typeface="Times New Roman" panose="02020603050405020304" pitchFamily="18" charset="0"/>
              </a:rPr>
              <a:t>, а игры кодируются в </a:t>
            </a:r>
            <a:r>
              <a:rPr lang="ru-RU" sz="1800" dirty="0" err="1">
                <a:latin typeface="Times New Roman" panose="02020603050405020304" pitchFamily="18" charset="0"/>
                <a:ea typeface="NSimSun" panose="02010609030101010101" pitchFamily="49" charset="-122"/>
              </a:rPr>
              <a:t>Javascript</a:t>
            </a:r>
            <a:r>
              <a:rPr lang="ru-RU" sz="1800" dirty="0">
                <a:effectLst/>
                <a:latin typeface="Times New Roman" panose="02020603050405020304" pitchFamily="18" charset="0"/>
                <a:ea typeface="Times New Roman" panose="02020603050405020304" pitchFamily="18" charset="0"/>
              </a:rPr>
              <a:t>. При экспорте проекта JavaScript код игры </a:t>
            </a:r>
            <a:r>
              <a:rPr lang="ru-RU" sz="1800" dirty="0" err="1">
                <a:latin typeface="Times New Roman" panose="02020603050405020304" pitchFamily="18" charset="0"/>
                <a:ea typeface="NSimSun" panose="02010609030101010101" pitchFamily="49" charset="-122"/>
              </a:rPr>
              <a:t>минифицируется</a:t>
            </a:r>
            <a:r>
              <a:rPr lang="ru-RU" sz="1800" dirty="0">
                <a:effectLst/>
                <a:latin typeface="Times New Roman" panose="02020603050405020304" pitchFamily="18" charset="0"/>
                <a:ea typeface="Times New Roman" panose="02020603050405020304" pitchFamily="18" charset="0"/>
              </a:rPr>
              <a:t>, однако есть возможность подключить </a:t>
            </a:r>
            <a:r>
              <a:rPr lang="ru-RU" sz="1800" dirty="0" err="1">
                <a:effectLst/>
                <a:latin typeface="Times New Roman" panose="02020603050405020304" pitchFamily="18" charset="0"/>
                <a:ea typeface="Times New Roman" panose="02020603050405020304" pitchFamily="18" charset="0"/>
              </a:rPr>
              <a:t>Javascript</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Plugin</a:t>
            </a:r>
            <a:r>
              <a:rPr lang="ru-RU" sz="1800" dirty="0">
                <a:effectLst/>
                <a:latin typeface="Times New Roman" panose="02020603050405020304" pitchFamily="18" charset="0"/>
                <a:ea typeface="Times New Roman" panose="02020603050405020304" pitchFamily="18" charset="0"/>
              </a:rPr>
              <a:t> SDK и модифицировать код вручную. </a:t>
            </a:r>
            <a:r>
              <a:rPr lang="ru-RU" sz="1800" dirty="0" err="1">
                <a:effectLst/>
                <a:latin typeface="Times New Roman" panose="02020603050405020304" pitchFamily="18" charset="0"/>
                <a:ea typeface="Times New Roman" panose="02020603050405020304" pitchFamily="18" charset="0"/>
              </a:rPr>
              <a:t>Construct</a:t>
            </a:r>
            <a:r>
              <a:rPr lang="ru-RU" sz="1800" dirty="0">
                <a:effectLst/>
                <a:latin typeface="Times New Roman" panose="02020603050405020304" pitchFamily="18" charset="0"/>
                <a:ea typeface="Times New Roman" panose="02020603050405020304" pitchFamily="18" charset="0"/>
              </a:rPr>
              <a:t> 2 имеет «модульный дизайн», поэтому любые плагины или </a:t>
            </a:r>
            <a:r>
              <a:rPr lang="ru-RU" sz="1800" dirty="0">
                <a:effectLst/>
                <a:latin typeface="Times New Roman" panose="02020603050405020304" pitchFamily="18" charset="0"/>
                <a:ea typeface="NSimSun" panose="02010609030101010101" pitchFamily="49" charset="-122"/>
                <a:hlinkClick r:id="rId3" tooltip="Construct Classic">
                  <a:extLst>
                    <a:ext uri="{A12FA001-AC4F-418D-AE19-62706E023703}">
                      <ahyp:hlinkClr xmlns:ahyp="http://schemas.microsoft.com/office/drawing/2018/hyperlinkcolor" val="tx"/>
                    </a:ext>
                  </a:extLst>
                </a:hlinkClick>
              </a:rPr>
              <a:t>поведения</a:t>
            </a:r>
            <a:r>
              <a:rPr lang="ru-RU" sz="1800" dirty="0">
                <a:effectLst/>
                <a:latin typeface="Times New Roman" panose="02020603050405020304" pitchFamily="18" charset="0"/>
                <a:ea typeface="Times New Roman" panose="02020603050405020304" pitchFamily="18" charset="0"/>
              </a:rPr>
              <a:t>, которые не используется в проекте, не включаются в скрипт, что помогает оптимизировать проект и сократить его вес.</a:t>
            </a:r>
          </a:p>
          <a:p>
            <a:pPr>
              <a:spcBef>
                <a:spcPts val="600"/>
              </a:spcBef>
              <a:spcAft>
                <a:spcPts val="600"/>
              </a:spcAft>
            </a:pPr>
            <a:r>
              <a:rPr lang="ru-RU" sz="1800" dirty="0">
                <a:effectLst/>
                <a:latin typeface="Times New Roman" panose="02020603050405020304" pitchFamily="18" charset="0"/>
                <a:ea typeface="Times New Roman" panose="02020603050405020304" pitchFamily="18" charset="0"/>
              </a:rPr>
              <a:t>На данный момент программа имеет более 20 встроенных поведений, включая </a:t>
            </a:r>
            <a:r>
              <a:rPr lang="ru-RU" sz="1800" dirty="0" err="1">
                <a:effectLst/>
                <a:latin typeface="Times New Roman" panose="02020603050405020304" pitchFamily="18" charset="0"/>
                <a:ea typeface="Times New Roman" panose="02020603050405020304" pitchFamily="18" charset="0"/>
              </a:rPr>
              <a:t>Platformer</a:t>
            </a:r>
            <a:r>
              <a:rPr lang="ru-RU" sz="1800" dirty="0">
                <a:effectLst/>
                <a:latin typeface="Times New Roman" panose="02020603050405020304" pitchFamily="18" charset="0"/>
                <a:ea typeface="Times New Roman" panose="02020603050405020304" pitchFamily="18" charset="0"/>
              </a:rPr>
              <a:t>, 8 </a:t>
            </a:r>
            <a:r>
              <a:rPr lang="ru-RU" sz="1800" dirty="0" err="1">
                <a:effectLst/>
                <a:latin typeface="Times New Roman" panose="02020603050405020304" pitchFamily="18" charset="0"/>
                <a:ea typeface="Times New Roman" panose="02020603050405020304" pitchFamily="18" charset="0"/>
              </a:rPr>
              <a:t>Direction</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Bullet</a:t>
            </a:r>
            <a:r>
              <a:rPr lang="ru-RU" sz="1800" dirty="0">
                <a:effectLst/>
                <a:latin typeface="Times New Roman" panose="02020603050405020304" pitchFamily="18" charset="0"/>
                <a:ea typeface="Times New Roman" panose="02020603050405020304" pitchFamily="18" charset="0"/>
              </a:rPr>
              <a:t>, Car, </a:t>
            </a:r>
            <a:r>
              <a:rPr lang="ru-RU" sz="1800" dirty="0" err="1">
                <a:effectLst/>
                <a:latin typeface="Times New Roman" panose="02020603050405020304" pitchFamily="18" charset="0"/>
                <a:ea typeface="Times New Roman" panose="02020603050405020304" pitchFamily="18" charset="0"/>
              </a:rPr>
              <a:t>Pathfinding</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Turret</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Drag'n'drop</a:t>
            </a:r>
            <a:r>
              <a:rPr lang="ru-RU" sz="1800" dirty="0">
                <a:effectLst/>
                <a:latin typeface="Times New Roman" panose="02020603050405020304" pitchFamily="18" charset="0"/>
                <a:ea typeface="Times New Roman" panose="02020603050405020304" pitchFamily="18" charset="0"/>
              </a:rPr>
              <a:t> и т.д., которые облегчают процесс создания игры.</a:t>
            </a:r>
          </a:p>
          <a:p>
            <a:pPr>
              <a:spcBef>
                <a:spcPts val="600"/>
              </a:spcBef>
              <a:spcAft>
                <a:spcPts val="600"/>
              </a:spcAft>
            </a:pPr>
            <a:r>
              <a:rPr lang="ru-RU" sz="1800" dirty="0" err="1">
                <a:effectLst/>
                <a:latin typeface="Times New Roman" panose="02020603050405020304" pitchFamily="18" charset="0"/>
                <a:ea typeface="Times New Roman" panose="02020603050405020304" pitchFamily="18" charset="0"/>
              </a:rPr>
              <a:t>Construct</a:t>
            </a:r>
            <a:r>
              <a:rPr lang="ru-RU" sz="1800" dirty="0">
                <a:effectLst/>
                <a:latin typeface="Times New Roman" panose="02020603050405020304" pitchFamily="18" charset="0"/>
                <a:ea typeface="Times New Roman" panose="02020603050405020304" pitchFamily="18" charset="0"/>
              </a:rPr>
              <a:t> 2 — это первый игровой движок, который официально поддерживает эффекты частиц (</a:t>
            </a:r>
            <a:r>
              <a:rPr lang="ru-RU" sz="1800" dirty="0" err="1">
                <a:effectLst/>
                <a:latin typeface="Times New Roman" panose="02020603050405020304" pitchFamily="18" charset="0"/>
                <a:ea typeface="Times New Roman" panose="02020603050405020304" pitchFamily="18" charset="0"/>
              </a:rPr>
              <a:t>particle</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effects</a:t>
            </a:r>
            <a:r>
              <a:rPr lang="ru-RU" sz="1800" dirty="0">
                <a:effectLst/>
                <a:latin typeface="Times New Roman" panose="02020603050405020304" pitchFamily="18" charset="0"/>
                <a:ea typeface="Times New Roman" panose="02020603050405020304" pitchFamily="18" charset="0"/>
              </a:rPr>
              <a:t>) на HTML5.</a:t>
            </a:r>
          </a:p>
          <a:p>
            <a:pPr>
              <a:spcBef>
                <a:spcPts val="600"/>
              </a:spcBef>
              <a:spcAft>
                <a:spcPts val="600"/>
              </a:spcAft>
            </a:pPr>
            <a:r>
              <a:rPr lang="ru-RU" sz="1800" dirty="0">
                <a:effectLst/>
                <a:latin typeface="Times New Roman" panose="02020603050405020304" pitchFamily="18" charset="0"/>
                <a:ea typeface="Times New Roman" panose="02020603050405020304" pitchFamily="18" charset="0"/>
              </a:rPr>
              <a:t>Встроенный игровой движок Box 2D </a:t>
            </a:r>
            <a:r>
              <a:rPr lang="ru-RU" sz="1800" dirty="0" err="1">
                <a:effectLst/>
                <a:latin typeface="Times New Roman" panose="02020603050405020304" pitchFamily="18" charset="0"/>
                <a:ea typeface="Times New Roman" panose="02020603050405020304" pitchFamily="18" charset="0"/>
              </a:rPr>
              <a:t>Physics</a:t>
            </a:r>
            <a:r>
              <a:rPr lang="ru-RU" sz="1800" baseline="30000" dirty="0">
                <a:effectLst/>
                <a:latin typeface="Times New Roman" panose="02020603050405020304" pitchFamily="18" charset="0"/>
                <a:ea typeface="Times New Roman" panose="02020603050405020304" pitchFamily="18" charset="0"/>
              </a:rPr>
              <a:t> </a:t>
            </a:r>
            <a:r>
              <a:rPr lang="ru-RU" sz="1800" dirty="0">
                <a:effectLst/>
                <a:latin typeface="Times New Roman" panose="02020603050405020304" pitchFamily="18" charset="0"/>
                <a:ea typeface="Times New Roman" panose="02020603050405020304" pitchFamily="18" charset="0"/>
              </a:rPr>
              <a:t>дает возможность моделировать законы физики и воспроизводить физические эффекты. Доступны плагины, расширяющие базовые возможности программы. Тестирование кода на мобильных </a:t>
            </a:r>
            <a:r>
              <a:rPr lang="ru-RU" sz="1800" dirty="0">
                <a:effectLst/>
                <a:latin typeface="Times New Roman" panose="02020603050405020304" pitchFamily="18" charset="0"/>
                <a:ea typeface="NSimSun" panose="02010609030101010101" pitchFamily="49" charset="-122"/>
                <a:hlinkClick r:id="rId4" tooltip="Операционная система">
                  <a:extLst>
                    <a:ext uri="{A12FA001-AC4F-418D-AE19-62706E023703}">
                      <ahyp:hlinkClr xmlns:ahyp="http://schemas.microsoft.com/office/drawing/2018/hyperlinkcolor" val="tx"/>
                    </a:ext>
                  </a:extLst>
                </a:hlinkClick>
              </a:rPr>
              <a:t>ОС</a:t>
            </a:r>
            <a:r>
              <a:rPr lang="ru-RU" sz="1800" dirty="0">
                <a:effectLst/>
                <a:latin typeface="Times New Roman" panose="02020603050405020304" pitchFamily="18" charset="0"/>
                <a:ea typeface="Times New Roman" panose="02020603050405020304" pitchFamily="18" charset="0"/>
              </a:rPr>
              <a:t> можно производить, не прибегая к компиляции проекта (при помощи </a:t>
            </a:r>
            <a:r>
              <a:rPr lang="ru-RU" sz="1800" dirty="0">
                <a:latin typeface="Times New Roman" panose="02020603050405020304" pitchFamily="18" charset="0"/>
                <a:ea typeface="NSimSun" panose="02010609030101010101" pitchFamily="49" charset="-122"/>
              </a:rPr>
              <a:t>LAN</a:t>
            </a:r>
            <a:r>
              <a:rPr lang="ru-RU" sz="1800" dirty="0">
                <a:effectLst/>
                <a:latin typeface="Times New Roman" panose="02020603050405020304" pitchFamily="18" charset="0"/>
                <a:ea typeface="Times New Roman" panose="02020603050405020304" pitchFamily="18" charset="0"/>
              </a:rPr>
              <a:t> и </a:t>
            </a:r>
            <a:r>
              <a:rPr lang="ru-RU" sz="1800" dirty="0">
                <a:latin typeface="Times New Roman" panose="02020603050405020304" pitchFamily="18" charset="0"/>
                <a:ea typeface="NSimSun" panose="02010609030101010101" pitchFamily="49" charset="-122"/>
              </a:rPr>
              <a:t>WiFi</a:t>
            </a:r>
            <a:r>
              <a:rPr lang="ru-RU" sz="1800" dirty="0">
                <a:effectLst/>
                <a:latin typeface="Times New Roman" panose="02020603050405020304" pitchFamily="18" charset="0"/>
                <a:ea typeface="Times New Roman" panose="02020603050405020304" pitchFamily="18" charset="0"/>
              </a:rPr>
              <a:t>).</a:t>
            </a:r>
          </a:p>
          <a:p>
            <a:pPr>
              <a:spcBef>
                <a:spcPts val="600"/>
              </a:spcBef>
              <a:spcAft>
                <a:spcPts val="600"/>
              </a:spcAft>
            </a:pPr>
            <a:r>
              <a:rPr lang="ru-RU" sz="1800" dirty="0" err="1">
                <a:effectLst/>
                <a:latin typeface="Times New Roman" panose="02020603050405020304" pitchFamily="18" charset="0"/>
                <a:ea typeface="Times New Roman" panose="02020603050405020304" pitchFamily="18" charset="0"/>
              </a:rPr>
              <a:t>Construct</a:t>
            </a:r>
            <a:r>
              <a:rPr lang="ru-RU" sz="1800" dirty="0">
                <a:effectLst/>
                <a:latin typeface="Times New Roman" panose="02020603050405020304" pitchFamily="18" charset="0"/>
                <a:ea typeface="Times New Roman" panose="02020603050405020304" pitchFamily="18" charset="0"/>
              </a:rPr>
              <a:t> 2 позволяет экспортировать созданные пользователями проекты в различные форматы. Функциональность программы позволяет экспортировать проекты в различные операционные системы, такие как </a:t>
            </a:r>
            <a:r>
              <a:rPr lang="ru-RU" sz="1800" dirty="0">
                <a:latin typeface="Times New Roman" panose="02020603050405020304" pitchFamily="18" charset="0"/>
                <a:ea typeface="NSimSun" panose="02010609030101010101" pitchFamily="49" charset="-122"/>
              </a:rPr>
              <a:t>Windows</a:t>
            </a:r>
            <a:r>
              <a:rPr lang="ru-RU" sz="1800" dirty="0">
                <a:effectLst/>
                <a:latin typeface="Times New Roman" panose="02020603050405020304" pitchFamily="18" charset="0"/>
                <a:ea typeface="Times New Roman" panose="02020603050405020304" pitchFamily="18" charset="0"/>
              </a:rPr>
              <a:t>, </a:t>
            </a:r>
            <a:r>
              <a:rPr lang="ru-RU" sz="1800" dirty="0">
                <a:latin typeface="Times New Roman" panose="02020603050405020304" pitchFamily="18" charset="0"/>
                <a:ea typeface="NSimSun" panose="02010609030101010101" pitchFamily="49" charset="-122"/>
              </a:rPr>
              <a:t>IOS</a:t>
            </a:r>
            <a:r>
              <a:rPr lang="ru-RU" sz="1800" dirty="0">
                <a:effectLst/>
                <a:latin typeface="Times New Roman" panose="02020603050405020304" pitchFamily="18" charset="0"/>
                <a:ea typeface="Times New Roman" panose="02020603050405020304" pitchFamily="18" charset="0"/>
              </a:rPr>
              <a:t>, </a:t>
            </a:r>
            <a:r>
              <a:rPr lang="ru-RU" sz="1800" dirty="0" err="1">
                <a:latin typeface="Times New Roman" panose="02020603050405020304" pitchFamily="18" charset="0"/>
                <a:ea typeface="NSimSun" panose="02010609030101010101" pitchFamily="49" charset="-122"/>
              </a:rPr>
              <a:t>Android</a:t>
            </a:r>
            <a:r>
              <a:rPr lang="ru-RU" sz="1800" dirty="0">
                <a:effectLst/>
                <a:latin typeface="Times New Roman" panose="02020603050405020304" pitchFamily="18" charset="0"/>
                <a:ea typeface="Times New Roman" panose="02020603050405020304" pitchFamily="18" charset="0"/>
              </a:rPr>
              <a:t> и другие.</a:t>
            </a:r>
          </a:p>
          <a:p>
            <a:endParaRPr lang="ru-RU" dirty="0"/>
          </a:p>
        </p:txBody>
      </p:sp>
      <p:pic>
        <p:nvPicPr>
          <p:cNvPr id="5" name="Рисунок 4">
            <a:extLst>
              <a:ext uri="{FF2B5EF4-FFF2-40B4-BE49-F238E27FC236}">
                <a16:creationId xmlns:a16="http://schemas.microsoft.com/office/drawing/2014/main" id="{76AB9692-DA9B-470C-BA18-BE6863A19A2C}"/>
              </a:ext>
            </a:extLst>
          </p:cNvPr>
          <p:cNvPicPr>
            <a:picLocks noChangeAspect="1"/>
          </p:cNvPicPr>
          <p:nvPr/>
        </p:nvPicPr>
        <p:blipFill>
          <a:blip r:embed="rId5"/>
          <a:stretch>
            <a:fillRect/>
          </a:stretch>
        </p:blipFill>
        <p:spPr>
          <a:xfrm>
            <a:off x="6534665" y="1252149"/>
            <a:ext cx="4569940" cy="2494863"/>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218848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92D17A-B18E-4331-A22D-45F39698CEB9}"/>
              </a:ext>
            </a:extLst>
          </p:cNvPr>
          <p:cNvSpPr>
            <a:spLocks noGrp="1"/>
          </p:cNvSpPr>
          <p:nvPr>
            <p:ph type="title"/>
          </p:nvPr>
        </p:nvSpPr>
        <p:spPr>
          <a:xfrm>
            <a:off x="496331" y="331450"/>
            <a:ext cx="10396882" cy="1151965"/>
          </a:xfrm>
        </p:spPr>
        <p:txBody>
          <a:bodyPr/>
          <a:lstStyle/>
          <a:p>
            <a:r>
              <a:rPr lang="ru-RU" dirty="0"/>
              <a:t>Жанр игры</a:t>
            </a:r>
          </a:p>
        </p:txBody>
      </p:sp>
      <p:sp>
        <p:nvSpPr>
          <p:cNvPr id="3" name="Объект 2">
            <a:extLst>
              <a:ext uri="{FF2B5EF4-FFF2-40B4-BE49-F238E27FC236}">
                <a16:creationId xmlns:a16="http://schemas.microsoft.com/office/drawing/2014/main" id="{46E0A549-F5C4-4988-BA45-7822FA8615F3}"/>
              </a:ext>
            </a:extLst>
          </p:cNvPr>
          <p:cNvSpPr>
            <a:spLocks noGrp="1"/>
          </p:cNvSpPr>
          <p:nvPr>
            <p:ph sz="quarter" idx="13"/>
          </p:nvPr>
        </p:nvSpPr>
        <p:spPr>
          <a:xfrm>
            <a:off x="356287" y="1679626"/>
            <a:ext cx="5978611" cy="3743493"/>
          </a:xfrm>
        </p:spPr>
        <p:txBody>
          <a:bodyPr>
            <a:normAutofit fontScale="47500" lnSpcReduction="20000"/>
          </a:bodyPr>
          <a:lstStyle/>
          <a:p>
            <a:pPr indent="450215" algn="just" fontAlgn="auto">
              <a:lnSpc>
                <a:spcPct val="170000"/>
              </a:lnSpc>
              <a:spcAft>
                <a:spcPts val="800"/>
              </a:spcAft>
            </a:pPr>
            <a:r>
              <a:rPr lang="ru-RU" sz="1800" kern="150" dirty="0" err="1">
                <a:effectLst/>
                <a:latin typeface="Times New Roman" panose="02020603050405020304" pitchFamily="18" charset="0"/>
                <a:ea typeface="NSimSun" panose="02010609030101010101" pitchFamily="49" charset="-122"/>
                <a:cs typeface="Times New Roman" panose="02020603050405020304" pitchFamily="18" charset="0"/>
              </a:rPr>
              <a:t>Платформер</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 жанр </a:t>
            </a:r>
            <a:r>
              <a:rPr lang="ru-RU" sz="1800" kern="150" dirty="0">
                <a:latin typeface="Times New Roman" panose="02020603050405020304" pitchFamily="18" charset="0"/>
                <a:ea typeface="NSimSun" panose="02010609030101010101" pitchFamily="49" charset="-122"/>
                <a:cs typeface="Times New Roman" panose="02020603050405020304" pitchFamily="18" charset="0"/>
              </a:rPr>
              <a:t>компьютерных игр</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в которых основу игрового процесса составляют прыжки по платформам, лазанье по лестницам, сбор предметов, необходимых для победы над врагами или завершения уровня.</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pPr indent="540385" algn="just">
              <a:lnSpc>
                <a:spcPct val="170000"/>
              </a:lnSpc>
              <a:spcBef>
                <a:spcPts val="600"/>
              </a:spcBef>
              <a:spcAft>
                <a:spcPts val="600"/>
              </a:spcAft>
            </a:pPr>
            <a:r>
              <a:rPr lang="ru-RU" sz="1800" dirty="0">
                <a:effectLst/>
                <a:latin typeface="Times New Roman" panose="02020603050405020304" pitchFamily="18" charset="0"/>
                <a:ea typeface="Times New Roman" panose="02020603050405020304" pitchFamily="18" charset="0"/>
              </a:rPr>
              <a:t>Противники (называемые «врагами»), всегда многочисленные и разнородные, обладают примитивным </a:t>
            </a:r>
            <a:r>
              <a:rPr lang="ru-RU" sz="1800" dirty="0">
                <a:latin typeface="Times New Roman" panose="02020603050405020304" pitchFamily="18" charset="0"/>
                <a:ea typeface="NSimSun" panose="02010609030101010101" pitchFamily="49" charset="-122"/>
              </a:rPr>
              <a:t>искусственным интеллектом</a:t>
            </a:r>
            <a:r>
              <a:rPr lang="ru-RU" sz="1800" dirty="0">
                <a:effectLst/>
                <a:latin typeface="Times New Roman" panose="02020603050405020304" pitchFamily="18" charset="0"/>
                <a:ea typeface="Times New Roman" panose="02020603050405020304" pitchFamily="18" charset="0"/>
              </a:rPr>
              <a:t>, стремясь максимально приблизиться к игроку, либо не обладают им вовсе, перемещаясь по круговой дистанции или совершая повторяющиеся действия. Соприкосновение с противником обычно отнимает жизненные силы у героя или вовсе убивает его. Иногда противник может быть нейтрализован либо прыжком ему на голову, либо из оружия, если им обладает герой. Смерть живых существ обычно изображается упрощённо или символически (существо исчезает или проваливается вниз за пределы экрана).</a:t>
            </a:r>
          </a:p>
          <a:p>
            <a:pPr algn="just">
              <a:lnSpc>
                <a:spcPct val="170000"/>
              </a:lnSpc>
              <a:spcBef>
                <a:spcPts val="600"/>
              </a:spcBef>
              <a:spcAft>
                <a:spcPts val="600"/>
              </a:spcAft>
            </a:pPr>
            <a:r>
              <a:rPr lang="ru-RU" sz="1800" dirty="0">
                <a:effectLst/>
                <a:latin typeface="Times New Roman" panose="02020603050405020304" pitchFamily="18" charset="0"/>
                <a:ea typeface="Times New Roman" panose="02020603050405020304" pitchFamily="18" charset="0"/>
              </a:rPr>
              <a:t>Уровни, как правило, изобилуют секретами (скрытые проходы в стенах, высокие или труднодоступные места), нахождение которых существенно облегчает прохождение и подогревает интерес игрока.</a:t>
            </a:r>
          </a:p>
          <a:p>
            <a:endParaRPr lang="ru-RU" dirty="0"/>
          </a:p>
        </p:txBody>
      </p:sp>
      <p:pic>
        <p:nvPicPr>
          <p:cNvPr id="5" name="Рисунок 4">
            <a:extLst>
              <a:ext uri="{FF2B5EF4-FFF2-40B4-BE49-F238E27FC236}">
                <a16:creationId xmlns:a16="http://schemas.microsoft.com/office/drawing/2014/main" id="{D2FB52ED-2813-449D-99E1-841C20A70034}"/>
              </a:ext>
            </a:extLst>
          </p:cNvPr>
          <p:cNvPicPr>
            <a:picLocks noChangeAspect="1"/>
          </p:cNvPicPr>
          <p:nvPr/>
        </p:nvPicPr>
        <p:blipFill>
          <a:blip r:embed="rId2"/>
          <a:stretch>
            <a:fillRect/>
          </a:stretch>
        </p:blipFill>
        <p:spPr>
          <a:xfrm>
            <a:off x="6557319" y="1679626"/>
            <a:ext cx="4948881" cy="278601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638767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F507CC-4946-45D4-8B90-870C40DF33FB}"/>
              </a:ext>
            </a:extLst>
          </p:cNvPr>
          <p:cNvSpPr>
            <a:spLocks noGrp="1"/>
          </p:cNvSpPr>
          <p:nvPr>
            <p:ph type="title"/>
          </p:nvPr>
        </p:nvSpPr>
        <p:spPr>
          <a:xfrm>
            <a:off x="685800" y="257432"/>
            <a:ext cx="10396882" cy="1151965"/>
          </a:xfrm>
        </p:spPr>
        <p:txBody>
          <a:bodyPr/>
          <a:lstStyle/>
          <a:p>
            <a:r>
              <a:rPr lang="ru-RU" dirty="0"/>
              <a:t>Описание игры</a:t>
            </a:r>
          </a:p>
        </p:txBody>
      </p:sp>
      <p:sp>
        <p:nvSpPr>
          <p:cNvPr id="3" name="Объект 2">
            <a:extLst>
              <a:ext uri="{FF2B5EF4-FFF2-40B4-BE49-F238E27FC236}">
                <a16:creationId xmlns:a16="http://schemas.microsoft.com/office/drawing/2014/main" id="{0EFA6A18-62A1-42C7-983B-30BE043ACFCB}"/>
              </a:ext>
            </a:extLst>
          </p:cNvPr>
          <p:cNvSpPr>
            <a:spLocks noGrp="1"/>
          </p:cNvSpPr>
          <p:nvPr>
            <p:ph sz="quarter" idx="13"/>
          </p:nvPr>
        </p:nvSpPr>
        <p:spPr>
          <a:xfrm>
            <a:off x="609600" y="1210962"/>
            <a:ext cx="5964195" cy="4061255"/>
          </a:xfrm>
        </p:spPr>
        <p:txBody>
          <a:bodyPr>
            <a:normAutofit fontScale="47500" lnSpcReduction="20000"/>
          </a:bodyPr>
          <a:lstStyle/>
          <a:p>
            <a:pPr>
              <a:lnSpc>
                <a:spcPct val="170000"/>
              </a:lnSpc>
            </a:pP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Суть игры “</a:t>
            </a:r>
            <a:r>
              <a:rPr lang="en-US" sz="1800" kern="150" dirty="0" err="1">
                <a:effectLst/>
                <a:latin typeface="Times New Roman" panose="02020603050405020304" pitchFamily="18" charset="0"/>
                <a:ea typeface="NSimSun" panose="02010609030101010101" pitchFamily="49" charset="-122"/>
                <a:cs typeface="Times New Roman" panose="02020603050405020304" pitchFamily="18" charset="0"/>
              </a:rPr>
              <a:t>FakeRunner</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заключается в прохождении уровней игроком. Она проверит человека на сдержанность, интуицию и логику, грубо говоря игра бросает вызов игроку. При заходе в игру игрок видит большую табличку “</a:t>
            </a:r>
            <a:r>
              <a:rPr lang="en-US" sz="1800" kern="150" dirty="0">
                <a:effectLst/>
                <a:latin typeface="Times New Roman" panose="02020603050405020304" pitchFamily="18" charset="0"/>
                <a:ea typeface="NSimSun" panose="02010609030101010101" pitchFamily="49" charset="-122"/>
                <a:cs typeface="Times New Roman" panose="02020603050405020304" pitchFamily="18" charset="0"/>
              </a:rPr>
              <a:t>PLAY</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включить или выключить музыку, и смену языков. Когда игрок нажмёт кнопку “</a:t>
            </a:r>
            <a:r>
              <a:rPr lang="en-US" sz="1800" kern="150" dirty="0">
                <a:effectLst/>
                <a:latin typeface="Times New Roman" panose="02020603050405020304" pitchFamily="18" charset="0"/>
                <a:ea typeface="NSimSun" panose="02010609030101010101" pitchFamily="49" charset="-122"/>
                <a:cs typeface="Times New Roman" panose="02020603050405020304" pitchFamily="18" charset="0"/>
              </a:rPr>
              <a:t>PLAY</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его перенесёт на 1 уровень, его нужно пройти, но не всё так просто. При первых попытках прыгнуть на платформу одна из них окажется прозрачной и упадёт, но перед этим если взял “</a:t>
            </a:r>
            <a:r>
              <a:rPr lang="ru-RU" sz="1800" kern="150" dirty="0" err="1">
                <a:effectLst/>
                <a:latin typeface="Times New Roman" panose="02020603050405020304" pitchFamily="18" charset="0"/>
                <a:ea typeface="NSimSun" panose="02010609030101010101" pitchFamily="49" charset="-122"/>
                <a:cs typeface="Times New Roman" panose="02020603050405020304" pitchFamily="18" charset="0"/>
              </a:rPr>
              <a:t>Чекпоинт</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(Место сохранения) то он вернётся к нему, если же нет, то ему придётся проходить всё с начала. Количество смертей неограниченно и игрок может купить в магазине счётчик смертей, когда дойдёт до него. На всех уровнях присутствуют враги и препятствия в виде: прозрачных текстур, цветков, шипов, </a:t>
            </a:r>
            <a:r>
              <a:rPr lang="ru-RU" sz="1800" kern="150" dirty="0" err="1">
                <a:effectLst/>
                <a:latin typeface="Times New Roman" panose="02020603050405020304" pitchFamily="18" charset="0"/>
                <a:ea typeface="NSimSun" panose="02010609030101010101" pitchFamily="49" charset="-122"/>
                <a:cs typeface="Times New Roman" panose="02020603050405020304" pitchFamily="18" charset="0"/>
              </a:rPr>
              <a:t>чупокабр</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a:t>
            </a:r>
            <a:r>
              <a:rPr lang="ru-RU" sz="1800" kern="150" dirty="0" err="1">
                <a:effectLst/>
                <a:latin typeface="Times New Roman" panose="02020603050405020304" pitchFamily="18" charset="0"/>
                <a:ea typeface="NSimSun" panose="02010609030101010101" pitchFamily="49" charset="-122"/>
                <a:cs typeface="Times New Roman" panose="02020603050405020304" pitchFamily="18" charset="0"/>
              </a:rPr>
              <a:t>чубриков</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a:t>
            </a:r>
            <a:r>
              <a:rPr lang="ru-RU" sz="1800" kern="150" dirty="0" err="1">
                <a:effectLst/>
                <a:latin typeface="Times New Roman" panose="02020603050405020304" pitchFamily="18" charset="0"/>
                <a:ea typeface="NSimSun" panose="02010609030101010101" pitchFamily="49" charset="-122"/>
                <a:cs typeface="Times New Roman" panose="02020603050405020304" pitchFamily="18" charset="0"/>
              </a:rPr>
              <a:t>хамачачи</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жуки (наименования противников). В игре всего 4 уровня и все они отличаются между собой, а именно строением и врагами, например на 1 уровне есть </a:t>
            </a:r>
            <a:r>
              <a:rPr lang="ru-RU" sz="1800" kern="150" dirty="0" err="1">
                <a:effectLst/>
                <a:latin typeface="Times New Roman" panose="02020603050405020304" pitchFamily="18" charset="0"/>
                <a:ea typeface="NSimSun" panose="02010609030101010101" pitchFamily="49" charset="-122"/>
                <a:cs typeface="Times New Roman" panose="02020603050405020304" pitchFamily="18" charset="0"/>
              </a:rPr>
              <a:t>чупокабры</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цветы, шипы. На 2-ом всё тоже самое за счёт новой фишки с фонарём, и тёмной локации. На 3-ем уровне игра ещё больше </a:t>
            </a:r>
            <a:r>
              <a:rPr lang="ru-RU" sz="1800" kern="150" dirty="0" err="1">
                <a:effectLst/>
                <a:latin typeface="Times New Roman" panose="02020603050405020304" pitchFamily="18" charset="0"/>
                <a:ea typeface="NSimSun" panose="02010609030101010101" pitchFamily="49" charset="-122"/>
                <a:cs typeface="Times New Roman" panose="02020603050405020304" pitchFamily="18" charset="0"/>
              </a:rPr>
              <a:t>усложнаяется</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врагов больше. На 4-ом уровне игра разделяется на 4 подуровня где нужно собрать звёздочки чтобы пройти последний 4 уровень. Главного героя зовут </a:t>
            </a:r>
            <a:r>
              <a:rPr lang="ru-RU" sz="1800" kern="150" dirty="0" err="1">
                <a:effectLst/>
                <a:latin typeface="Times New Roman" panose="02020603050405020304" pitchFamily="18" charset="0"/>
                <a:ea typeface="NSimSun" panose="02010609030101010101" pitchFamily="49" charset="-122"/>
                <a:cs typeface="Times New Roman" panose="02020603050405020304" pitchFamily="18" charset="0"/>
              </a:rPr>
              <a:t>Чупчик</a:t>
            </a: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 он является роботом за которого играет игрок, он имеет двойной прыжок.</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endParaRPr lang="ru-RU" dirty="0"/>
          </a:p>
        </p:txBody>
      </p:sp>
      <p:pic>
        <p:nvPicPr>
          <p:cNvPr id="7" name="Рисунок 6">
            <a:extLst>
              <a:ext uri="{FF2B5EF4-FFF2-40B4-BE49-F238E27FC236}">
                <a16:creationId xmlns:a16="http://schemas.microsoft.com/office/drawing/2014/main" id="{F7FF4933-3072-4B93-9E56-534BAE411CAD}"/>
              </a:ext>
            </a:extLst>
          </p:cNvPr>
          <p:cNvPicPr>
            <a:picLocks noChangeAspect="1"/>
          </p:cNvPicPr>
          <p:nvPr/>
        </p:nvPicPr>
        <p:blipFill>
          <a:blip r:embed="rId2"/>
          <a:stretch>
            <a:fillRect/>
          </a:stretch>
        </p:blipFill>
        <p:spPr>
          <a:xfrm>
            <a:off x="6649995" y="1210962"/>
            <a:ext cx="4763809" cy="26438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Рисунок 8">
            <a:extLst>
              <a:ext uri="{FF2B5EF4-FFF2-40B4-BE49-F238E27FC236}">
                <a16:creationId xmlns:a16="http://schemas.microsoft.com/office/drawing/2014/main" id="{3ACA5757-EBB2-45F0-993A-C24E1600E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2299" y="3972698"/>
            <a:ext cx="1219200" cy="1219200"/>
          </a:xfrm>
          <a:prstGeom prst="ellipse">
            <a:avLst/>
          </a:prstGeom>
          <a:ln>
            <a:noFill/>
          </a:ln>
          <a:effectLst>
            <a:softEdge rad="112500"/>
          </a:effectLst>
        </p:spPr>
      </p:pic>
    </p:spTree>
    <p:extLst>
      <p:ext uri="{BB962C8B-B14F-4D97-AF65-F5344CB8AC3E}">
        <p14:creationId xmlns:p14="http://schemas.microsoft.com/office/powerpoint/2010/main" val="862028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016DA5-BE1B-45B7-9EC1-4D5B770851E9}"/>
              </a:ext>
            </a:extLst>
          </p:cNvPr>
          <p:cNvSpPr>
            <a:spLocks noGrp="1"/>
          </p:cNvSpPr>
          <p:nvPr>
            <p:ph type="title"/>
          </p:nvPr>
        </p:nvSpPr>
        <p:spPr>
          <a:xfrm>
            <a:off x="545758" y="363797"/>
            <a:ext cx="10396882" cy="1151965"/>
          </a:xfrm>
        </p:spPr>
        <p:txBody>
          <a:bodyPr/>
          <a:lstStyle/>
          <a:p>
            <a:r>
              <a:rPr lang="ru-RU" dirty="0"/>
              <a:t>заключение</a:t>
            </a:r>
          </a:p>
        </p:txBody>
      </p:sp>
      <p:sp>
        <p:nvSpPr>
          <p:cNvPr id="3" name="Объект 2">
            <a:extLst>
              <a:ext uri="{FF2B5EF4-FFF2-40B4-BE49-F238E27FC236}">
                <a16:creationId xmlns:a16="http://schemas.microsoft.com/office/drawing/2014/main" id="{97883F0D-B00F-42A4-AF12-7309116BF022}"/>
              </a:ext>
            </a:extLst>
          </p:cNvPr>
          <p:cNvSpPr>
            <a:spLocks noGrp="1"/>
          </p:cNvSpPr>
          <p:nvPr>
            <p:ph sz="quarter" idx="13"/>
          </p:nvPr>
        </p:nvSpPr>
        <p:spPr>
          <a:xfrm>
            <a:off x="420130" y="1433384"/>
            <a:ext cx="6499654" cy="4102443"/>
          </a:xfrm>
        </p:spPr>
        <p:txBody>
          <a:bodyPr>
            <a:normAutofit fontScale="70000" lnSpcReduction="20000"/>
          </a:bodyPr>
          <a:lstStyle/>
          <a:p>
            <a:pPr indent="90170" fontAlgn="auto">
              <a:spcAft>
                <a:spcPts val="800"/>
              </a:spcAft>
            </a:pPr>
            <a:r>
              <a:rPr lang="ru-RU" sz="1800" kern="150" dirty="0">
                <a:effectLst/>
                <a:latin typeface="Times New Roman" panose="02020603050405020304" pitchFamily="18" charset="0"/>
                <a:ea typeface="NSimSun" panose="02010609030101010101" pitchFamily="49" charset="-122"/>
                <a:cs typeface="Times New Roman" panose="02020603050405020304" pitchFamily="18" charset="0"/>
              </a:rPr>
              <a:t>В заключении работы хочу подвести итоги:</a:t>
            </a:r>
            <a:endParaRPr lang="ru-RU" sz="1800" kern="150" dirty="0">
              <a:effectLst/>
              <a:latin typeface="Times New Roman" panose="02020603050405020304" pitchFamily="18" charset="0"/>
              <a:ea typeface="NSimSun" panose="02010609030101010101" pitchFamily="49" charset="-122"/>
              <a:cs typeface="Lucida Sans" panose="020B0602030504020204" pitchFamily="34" charset="0"/>
            </a:endParaRPr>
          </a:p>
          <a:p>
            <a:pPr marL="228600" indent="221615">
              <a:spcBef>
                <a:spcPts val="600"/>
              </a:spcBef>
              <a:spcAft>
                <a:spcPts val="600"/>
              </a:spcAft>
            </a:pPr>
            <a:r>
              <a:rPr lang="ru-RU" sz="1800" dirty="0">
                <a:effectLst/>
                <a:latin typeface="Times New Roman" panose="02020603050405020304" pitchFamily="18" charset="0"/>
                <a:ea typeface="Times New Roman" panose="02020603050405020304" pitchFamily="18" charset="0"/>
              </a:rPr>
              <a:t>целью являлась разработать с помощью движка “</a:t>
            </a:r>
            <a:r>
              <a:rPr lang="en-US" sz="1800" dirty="0">
                <a:effectLst/>
                <a:latin typeface="Times New Roman" panose="02020603050405020304" pitchFamily="18" charset="0"/>
                <a:ea typeface="Times New Roman" panose="02020603050405020304" pitchFamily="18" charset="0"/>
              </a:rPr>
              <a:t>Construct</a:t>
            </a:r>
            <a:r>
              <a:rPr lang="ru-RU" sz="1800" dirty="0">
                <a:effectLst/>
                <a:latin typeface="Times New Roman" panose="02020603050405020304" pitchFamily="18" charset="0"/>
                <a:ea typeface="Times New Roman" panose="02020603050405020304" pitchFamily="18" charset="0"/>
              </a:rPr>
              <a:t>”  игру в жанре </a:t>
            </a:r>
            <a:r>
              <a:rPr lang="ru-RU" sz="1800" dirty="0" err="1">
                <a:effectLst/>
                <a:latin typeface="Times New Roman" panose="02020603050405020304" pitchFamily="18" charset="0"/>
                <a:ea typeface="Times New Roman" panose="02020603050405020304" pitchFamily="18" charset="0"/>
              </a:rPr>
              <a:t>платформер</a:t>
            </a:r>
            <a:r>
              <a:rPr lang="ru-RU" sz="1800" dirty="0">
                <a:effectLst/>
                <a:latin typeface="Times New Roman" panose="02020603050405020304" pitchFamily="18" charset="0"/>
                <a:ea typeface="Times New Roman" panose="02020603050405020304" pitchFamily="18" charset="0"/>
              </a:rPr>
              <a:t>, что и </a:t>
            </a:r>
            <a:r>
              <a:rPr lang="ru-RU" sz="1800" dirty="0" err="1">
                <a:effectLst/>
                <a:latin typeface="Times New Roman" panose="02020603050405020304" pitchFamily="18" charset="0"/>
                <a:ea typeface="Times New Roman" panose="02020603050405020304" pitchFamily="18" charset="0"/>
              </a:rPr>
              <a:t>сделално</a:t>
            </a:r>
            <a:r>
              <a:rPr lang="ru-RU" sz="1800" dirty="0">
                <a:effectLst/>
                <a:latin typeface="Times New Roman" panose="02020603050405020304" pitchFamily="18" charset="0"/>
                <a:ea typeface="Times New Roman" panose="02020603050405020304" pitchFamily="18" charset="0"/>
              </a:rPr>
              <a:t>, далее задачи: изучить, что такое компьютерная игра. Рассмотреть виды и составляющие игры – это Сеттинг, Геймплей, Музыка. Познакомиться с движком “</a:t>
            </a:r>
            <a:r>
              <a:rPr lang="en-US" sz="1800" dirty="0">
                <a:effectLst/>
                <a:latin typeface="Times New Roman" panose="02020603050405020304" pitchFamily="18" charset="0"/>
                <a:ea typeface="Times New Roman" panose="02020603050405020304" pitchFamily="18" charset="0"/>
              </a:rPr>
              <a:t>Construct</a:t>
            </a:r>
            <a:r>
              <a:rPr lang="ru-RU" sz="1800" dirty="0">
                <a:effectLst/>
                <a:latin typeface="Times New Roman" panose="02020603050405020304" pitchFamily="18" charset="0"/>
                <a:ea typeface="Times New Roman" panose="02020603050405020304" pitchFamily="18" charset="0"/>
              </a:rPr>
              <a:t>” – это редактор </a:t>
            </a:r>
            <a:r>
              <a:rPr lang="ru-RU" sz="1800" dirty="0" err="1">
                <a:effectLst/>
                <a:latin typeface="Times New Roman" panose="02020603050405020304" pitchFamily="18" charset="0"/>
                <a:ea typeface="Times New Roman" panose="02020603050405020304" pitchFamily="18" charset="0"/>
              </a:rPr>
              <a:t>Construct</a:t>
            </a:r>
            <a:r>
              <a:rPr lang="ru-RU" sz="1800" dirty="0">
                <a:effectLst/>
                <a:latin typeface="Times New Roman" panose="02020603050405020304" pitchFamily="18" charset="0"/>
                <a:ea typeface="Times New Roman" panose="02020603050405020304" pitchFamily="18" charset="0"/>
              </a:rPr>
              <a:t> 2 написан на языке </a:t>
            </a:r>
            <a:r>
              <a:rPr lang="ru-RU" sz="1800" dirty="0">
                <a:effectLst/>
                <a:latin typeface="Times New Roman" panose="02020603050405020304" pitchFamily="18" charset="0"/>
                <a:ea typeface="NSimSun" panose="02010609030101010101" pitchFamily="49" charset="-122"/>
                <a:hlinkClick r:id="rId2" tooltip="C++">
                  <a:extLst>
                    <a:ext uri="{A12FA001-AC4F-418D-AE19-62706E023703}">
                      <ahyp:hlinkClr xmlns:ahyp="http://schemas.microsoft.com/office/drawing/2018/hyperlinkcolor" val="tx"/>
                    </a:ext>
                  </a:extLst>
                </a:hlinkClick>
              </a:rPr>
              <a:t>C++</a:t>
            </a:r>
            <a:r>
              <a:rPr lang="ru-RU" sz="1800" dirty="0">
                <a:effectLst/>
                <a:latin typeface="Times New Roman" panose="02020603050405020304" pitchFamily="18" charset="0"/>
                <a:ea typeface="Times New Roman" panose="02020603050405020304" pitchFamily="18" charset="0"/>
              </a:rPr>
              <a:t>, а игры кодируются в </a:t>
            </a:r>
            <a:r>
              <a:rPr lang="ru-RU" sz="1800" dirty="0" err="1">
                <a:latin typeface="Times New Roman" panose="02020603050405020304" pitchFamily="18" charset="0"/>
                <a:ea typeface="NSimSun" panose="02010609030101010101" pitchFamily="49" charset="-122"/>
              </a:rPr>
              <a:t>Javascript</a:t>
            </a:r>
            <a:r>
              <a:rPr lang="ru-RU" sz="1800" dirty="0">
                <a:effectLst/>
                <a:latin typeface="Times New Roman" panose="02020603050405020304" pitchFamily="18" charset="0"/>
                <a:ea typeface="Times New Roman" panose="02020603050405020304" pitchFamily="18" charset="0"/>
              </a:rPr>
              <a:t>. При экспорте проекта JavaScript код игры </a:t>
            </a:r>
            <a:r>
              <a:rPr lang="ru-RU" sz="1800" dirty="0" err="1">
                <a:latin typeface="Times New Roman" panose="02020603050405020304" pitchFamily="18" charset="0"/>
                <a:ea typeface="NSimSun" panose="02010609030101010101" pitchFamily="49" charset="-122"/>
              </a:rPr>
              <a:t>минифицируется</a:t>
            </a:r>
            <a:r>
              <a:rPr lang="ru-RU" sz="1800" dirty="0">
                <a:effectLst/>
                <a:latin typeface="Times New Roman" panose="02020603050405020304" pitchFamily="18" charset="0"/>
                <a:ea typeface="Times New Roman" panose="02020603050405020304" pitchFamily="18" charset="0"/>
              </a:rPr>
              <a:t>, однако есть возможность подключить </a:t>
            </a:r>
            <a:r>
              <a:rPr lang="ru-RU" sz="1800" dirty="0" err="1">
                <a:effectLst/>
                <a:latin typeface="Times New Roman" panose="02020603050405020304" pitchFamily="18" charset="0"/>
                <a:ea typeface="Times New Roman" panose="02020603050405020304" pitchFamily="18" charset="0"/>
              </a:rPr>
              <a:t>Javascript</a:t>
            </a:r>
            <a:r>
              <a:rPr lang="ru-RU" sz="1800" dirty="0">
                <a:effectLst/>
                <a:latin typeface="Times New Roman" panose="02020603050405020304" pitchFamily="18" charset="0"/>
                <a:ea typeface="Times New Roman" panose="02020603050405020304" pitchFamily="18" charset="0"/>
              </a:rPr>
              <a:t> </a:t>
            </a:r>
            <a:r>
              <a:rPr lang="ru-RU" sz="1800" dirty="0" err="1">
                <a:effectLst/>
                <a:latin typeface="Times New Roman" panose="02020603050405020304" pitchFamily="18" charset="0"/>
                <a:ea typeface="Times New Roman" panose="02020603050405020304" pitchFamily="18" charset="0"/>
              </a:rPr>
              <a:t>Plugin</a:t>
            </a:r>
            <a:r>
              <a:rPr lang="ru-RU" sz="1800" dirty="0">
                <a:effectLst/>
                <a:latin typeface="Times New Roman" panose="02020603050405020304" pitchFamily="18" charset="0"/>
                <a:ea typeface="Times New Roman" panose="02020603050405020304" pitchFamily="18" charset="0"/>
              </a:rPr>
              <a:t> SDK и модифицировать код вручную. Разработать игру на движке </a:t>
            </a:r>
            <a:r>
              <a:rPr lang="en-US" sz="1800" dirty="0">
                <a:effectLst/>
                <a:latin typeface="Times New Roman" panose="02020603050405020304" pitchFamily="18" charset="0"/>
                <a:ea typeface="Times New Roman" panose="02020603050405020304" pitchFamily="18" charset="0"/>
              </a:rPr>
              <a:t>“Construct”. </a:t>
            </a:r>
            <a:r>
              <a:rPr lang="ru-RU" sz="1800" dirty="0">
                <a:effectLst/>
                <a:latin typeface="Times New Roman" panose="02020603050405020304" pitchFamily="18" charset="0"/>
                <a:ea typeface="Times New Roman" panose="02020603050405020304" pitchFamily="18" charset="0"/>
              </a:rPr>
              <a:t>И последнее Презентовать продукт</a:t>
            </a:r>
            <a:r>
              <a:rPr lang="en-US" sz="1800" dirty="0">
                <a:effectLst/>
                <a:latin typeface="Times New Roman" panose="02020603050405020304" pitchFamily="18" charset="0"/>
                <a:ea typeface="Times New Roman" panose="02020603050405020304" pitchFamily="18" charset="0"/>
              </a:rPr>
              <a:t>.</a:t>
            </a:r>
            <a:endParaRPr lang="ru-RU" sz="1800" dirty="0">
              <a:effectLst/>
              <a:latin typeface="Times New Roman" panose="02020603050405020304" pitchFamily="18" charset="0"/>
              <a:ea typeface="Times New Roman" panose="02020603050405020304" pitchFamily="18" charset="0"/>
            </a:endParaRPr>
          </a:p>
          <a:p>
            <a:pPr marL="228600">
              <a:spcBef>
                <a:spcPts val="600"/>
              </a:spcBef>
              <a:spcAft>
                <a:spcPts val="600"/>
              </a:spcAft>
            </a:pPr>
            <a:r>
              <a:rPr lang="ru-RU" sz="1800" dirty="0">
                <a:effectLst/>
                <a:latin typeface="Times New Roman" panose="02020603050405020304" pitchFamily="18" charset="0"/>
                <a:ea typeface="Times New Roman" panose="02020603050405020304" pitchFamily="18" charset="0"/>
              </a:rPr>
              <a:t>Все выше поставленные задачи и </a:t>
            </a:r>
            <a:r>
              <a:rPr lang="ru-RU" sz="1800" dirty="0" err="1">
                <a:effectLst/>
                <a:latin typeface="Times New Roman" panose="02020603050405020304" pitchFamily="18" charset="0"/>
                <a:ea typeface="Times New Roman" panose="02020603050405020304" pitchFamily="18" charset="0"/>
              </a:rPr>
              <a:t>целИ</a:t>
            </a:r>
            <a:r>
              <a:rPr lang="ru-RU" sz="1800" dirty="0">
                <a:effectLst/>
                <a:latin typeface="Times New Roman" panose="02020603050405020304" pitchFamily="18" charset="0"/>
                <a:ea typeface="Times New Roman" panose="02020603050405020304" pitchFamily="18" charset="0"/>
              </a:rPr>
              <a:t> выполнены</a:t>
            </a:r>
            <a:r>
              <a:rPr lang="en-US" sz="1800" dirty="0">
                <a:effectLst/>
                <a:latin typeface="Times New Roman" panose="02020603050405020304" pitchFamily="18" charset="0"/>
                <a:ea typeface="Times New Roman" panose="02020603050405020304" pitchFamily="18" charset="0"/>
              </a:rPr>
              <a:t>,</a:t>
            </a:r>
            <a:r>
              <a:rPr lang="ru-RU" sz="1800" dirty="0">
                <a:effectLst/>
                <a:latin typeface="Times New Roman" panose="02020603050405020304" pitchFamily="18" charset="0"/>
                <a:ea typeface="Times New Roman" panose="02020603050405020304" pitchFamily="18" charset="0"/>
              </a:rPr>
              <a:t> Но для чего же нужны компьютерные игры? Компьютерные игры нужны по большей части как для развлечений, так и для развития логики, мышления, а так же проведения турниров.</a:t>
            </a:r>
          </a:p>
          <a:p>
            <a:pPr>
              <a:spcBef>
                <a:spcPts val="600"/>
              </a:spcBef>
              <a:spcAft>
                <a:spcPts val="600"/>
              </a:spcAft>
            </a:pPr>
            <a:r>
              <a:rPr lang="ru-RU" dirty="0" err="1"/>
              <a:t>FakeRunner</a:t>
            </a:r>
            <a:r>
              <a:rPr lang="ru-RU" dirty="0"/>
              <a:t> </a:t>
            </a:r>
            <a:r>
              <a:rPr lang="ru-RU" b="1" dirty="0"/>
              <a:t>— </a:t>
            </a:r>
            <a:r>
              <a:rPr lang="ru-RU" dirty="0"/>
              <a:t>это вызов не только для игроков, но и для меня как разработчика. Спасибо за внимание! Готов ответить на вопросы</a:t>
            </a:r>
          </a:p>
        </p:txBody>
      </p:sp>
      <p:pic>
        <p:nvPicPr>
          <p:cNvPr id="5" name="Рисунок 4">
            <a:extLst>
              <a:ext uri="{FF2B5EF4-FFF2-40B4-BE49-F238E27FC236}">
                <a16:creationId xmlns:a16="http://schemas.microsoft.com/office/drawing/2014/main" id="{E58B2297-31B5-41E5-84E0-B1B1C8C7D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9705" y="1515762"/>
            <a:ext cx="1663014" cy="33260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4711284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Главное мероприятие">
  <a:themeElements>
    <a:clrScheme name="Главное мероприятие">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Главное мероприятие">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лавное мероприятие">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Главное мероприятие</Template>
  <TotalTime>71</TotalTime>
  <Words>1137</Words>
  <Application>Microsoft Office PowerPoint</Application>
  <PresentationFormat>Широкоэкранный</PresentationFormat>
  <Paragraphs>48</Paragraphs>
  <Slides>10</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Arial</vt:lpstr>
      <vt:lpstr>Impact</vt:lpstr>
      <vt:lpstr>Times New Roman</vt:lpstr>
      <vt:lpstr>Главное мероприятие</vt:lpstr>
      <vt:lpstr>Компьютерная игра</vt:lpstr>
      <vt:lpstr>Введение</vt:lpstr>
      <vt:lpstr>Концепция и цели</vt:lpstr>
      <vt:lpstr>Составляющее компьютерной игры</vt:lpstr>
      <vt:lpstr>еймплей и фишки</vt:lpstr>
      <vt:lpstr>Техническая реализация</vt:lpstr>
      <vt:lpstr>Функциональность</vt:lpstr>
      <vt:lpstr>Жанр игры</vt:lpstr>
      <vt:lpstr>Описание игры</vt:lpstr>
      <vt:lpstr>заключение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Компьютерная игра</dc:title>
  <dc:creator>Ivan Yachmenev</dc:creator>
  <cp:lastModifiedBy>Ivan Yachmenev</cp:lastModifiedBy>
  <cp:revision>8</cp:revision>
  <dcterms:created xsi:type="dcterms:W3CDTF">2021-12-20T16:32:16Z</dcterms:created>
  <dcterms:modified xsi:type="dcterms:W3CDTF">2025-06-26T11:18:21Z</dcterms:modified>
</cp:coreProperties>
</file>